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EF38120-C42C-E766-9308-74EDEDA7078D}">
          <p14:sldIdLst>
            <p14:sldId id="256"/>
            <p14:sldId id="257"/>
          </p14:sldIdLst>
        </p14:section>
        <p14:section name="The Idea" id="{8535AB7D-576E-4BAD-B1D9-A9B22D1A2ACC}">
          <p14:sldIdLst>
            <p14:sldId id="258"/>
            <p14:sldId id="259"/>
          </p14:sldIdLst>
        </p14:section>
        <p14:section name="Technology" id="{5590A3E7-9737-8232-19F1-FC4F2D203320}">
          <p14:sldIdLst>
            <p14:sldId id="260"/>
          </p14:sldIdLst>
        </p14:section>
        <p14:section name="Demo and Future" id="{30E4B6B6-15FD-EDEF-5C58-35F7D38C8560}">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62B8E2-2E19-47E3-92D1-45D9C8CC487D}" v="3" dt="2026-10-03T06:21:39.0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0" d="100"/>
          <a:sy n="130" d="100"/>
        </p:scale>
        <p:origin x="8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rna chary" userId="1956ddfe3542cb9b" providerId="LiveId" clId="{6F98A9F4-9907-466D-988A-9BA6B951F211}"/>
    <pc:docChg chg="modSld">
      <pc:chgData name="poorna chary" userId="1956ddfe3542cb9b" providerId="LiveId" clId="{6F98A9F4-9907-466D-988A-9BA6B951F211}" dt="2026-10-03T06:21:42.984" v="379" actId="20577"/>
      <pc:docMkLst>
        <pc:docMk/>
      </pc:docMkLst>
      <pc:sldChg chg="modSp mod">
        <pc:chgData name="poorna chary" userId="1956ddfe3542cb9b" providerId="LiveId" clId="{6F98A9F4-9907-466D-988A-9BA6B951F211}" dt="2026-10-03T06:21:42.984" v="379" actId="20577"/>
        <pc:sldMkLst>
          <pc:docMk/>
          <pc:sldMk cId="0" sldId="256"/>
        </pc:sldMkLst>
        <pc:spChg chg="mod">
          <ac:chgData name="poorna chary" userId="1956ddfe3542cb9b" providerId="LiveId" clId="{6F98A9F4-9907-466D-988A-9BA6B951F211}" dt="2026-10-03T06:18:55.486" v="216" actId="20577"/>
          <ac:spMkLst>
            <pc:docMk/>
            <pc:sldMk cId="0" sldId="256"/>
            <ac:spMk id="2" creationId="{00000000-0000-0000-0000-000000000000}"/>
          </ac:spMkLst>
        </pc:spChg>
        <pc:spChg chg="mod">
          <ac:chgData name="poorna chary" userId="1956ddfe3542cb9b" providerId="LiveId" clId="{6F98A9F4-9907-466D-988A-9BA6B951F211}" dt="2026-10-03T06:21:42.984" v="379" actId="20577"/>
          <ac:spMkLst>
            <pc:docMk/>
            <pc:sldMk cId="0" sldId="256"/>
            <ac:spMk id="6" creationId="{00000000-0000-0000-0000-000000000000}"/>
          </ac:spMkLst>
        </pc:spChg>
      </pc:sldChg>
      <pc:sldChg chg="modSp mod">
        <pc:chgData name="poorna chary" userId="1956ddfe3542cb9b" providerId="LiveId" clId="{6F98A9F4-9907-466D-988A-9BA6B951F211}" dt="2026-10-03T06:17:42.593" v="132" actId="20577"/>
        <pc:sldMkLst>
          <pc:docMk/>
          <pc:sldMk cId="0" sldId="262"/>
        </pc:sldMkLst>
        <pc:spChg chg="mod">
          <ac:chgData name="poorna chary" userId="1956ddfe3542cb9b" providerId="LiveId" clId="{6F98A9F4-9907-466D-988A-9BA6B951F211}" dt="2026-10-03T06:17:32.523" v="82" actId="20577"/>
          <ac:spMkLst>
            <pc:docMk/>
            <pc:sldMk cId="0" sldId="262"/>
            <ac:spMk id="15" creationId="{00000000-0000-0000-0000-000000000000}"/>
          </ac:spMkLst>
        </pc:spChg>
        <pc:spChg chg="mod">
          <ac:chgData name="poorna chary" userId="1956ddfe3542cb9b" providerId="LiveId" clId="{6F98A9F4-9907-466D-988A-9BA6B951F211}" dt="2026-10-03T06:17:42.593" v="132" actId="20577"/>
          <ac:spMkLst>
            <pc:docMk/>
            <pc:sldMk cId="0" sldId="262"/>
            <ac:spMk id="1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1B4B"/>
                </a:solidFill>
                <a:latin typeface="+mn-lt"/>
              </a:defRPr>
            </a:pPr>
            <a:r>
              <a:rPr lang="en-US" sz="1400" b="0" i="0" u="none" strike="noStrike">
                <a:solidFill>
                  <a:srgbClr val="1E1B4B"/>
                </a:solidFill>
                <a:latin typeface="+mn-lt"/>
              </a:rPr>
              <a:t>Same 21×21 maze (seed 1)</a:t>
            </a:r>
          </a:p>
        </c:rich>
      </c:tx>
      <c:overlay val="0"/>
    </c:title>
    <c:autoTitleDeleted val="0"/>
    <c:plotArea>
      <c:layout/>
      <c:barChart>
        <c:barDir val="col"/>
        <c:grouping val="clustered"/>
        <c:varyColors val="0"/>
        <c:ser>
          <c:idx val="0"/>
          <c:order val="0"/>
          <c:tx>
            <c:strRef>
              <c:f>Sheet1!$B$1</c:f>
              <c:strCache>
                <c:ptCount val="1"/>
                <c:pt idx="0">
                  <c:v>Path length (steps)</c:v>
                </c:pt>
              </c:strCache>
            </c:strRef>
          </c:tx>
          <c:spPr>
            <a:solidFill>
              <a:srgbClr val="2563EB"/>
            </a:solidFill>
            <a:effectLst/>
          </c:spPr>
          <c:invertIfNegative val="0"/>
          <c:dLbls>
            <c:numFmt formatCode="#,##0" sourceLinked="0"/>
            <c:spPr>
              <a:noFill/>
              <a:ln>
                <a:noFill/>
              </a:ln>
              <a:effectLst/>
            </c:spPr>
            <c:txPr>
              <a:bodyPr/>
              <a:lstStyle/>
              <a:p>
                <a:pPr>
                  <a:defRPr sz="1100" b="0" i="0" u="none" strike="noStrike">
                    <a:solidFill>
                      <a:srgbClr val="1E1B4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BFS</c:v>
                </c:pt>
                <c:pt idx="1">
                  <c:v>DFS</c:v>
                </c:pt>
                <c:pt idx="2">
                  <c:v>Backtracking</c:v>
                </c:pt>
              </c:strCache>
            </c:strRef>
          </c:cat>
          <c:val>
            <c:numRef>
              <c:f>Sheet1!$B$2:$B$4</c:f>
              <c:numCache>
                <c:formatCode>General</c:formatCode>
                <c:ptCount val="3"/>
                <c:pt idx="0">
                  <c:v>64</c:v>
                </c:pt>
                <c:pt idx="1">
                  <c:v>108</c:v>
                </c:pt>
                <c:pt idx="2">
                  <c:v>108</c:v>
                </c:pt>
              </c:numCache>
            </c:numRef>
          </c:val>
          <c:extLst>
            <c:ext xmlns:c16="http://schemas.microsoft.com/office/drawing/2014/chart" uri="{C3380CC4-5D6E-409C-BE32-E72D297353CC}">
              <c16:uniqueId val="{00000000-67A7-489D-AB55-86074DDF4D6D}"/>
            </c:ext>
          </c:extLst>
        </c:ser>
        <c:ser>
          <c:idx val="1"/>
          <c:order val="1"/>
          <c:tx>
            <c:strRef>
              <c:f>Sheet1!$C$1</c:f>
              <c:strCache>
                <c:ptCount val="1"/>
                <c:pt idx="0">
                  <c:v>Visited cells</c:v>
                </c:pt>
              </c:strCache>
            </c:strRef>
          </c:tx>
          <c:spPr>
            <a:solidFill>
              <a:srgbClr val="FACC15"/>
            </a:solidFill>
            <a:effectLst/>
          </c:spPr>
          <c:invertIfNegative val="0"/>
          <c:dLbls>
            <c:numFmt formatCode="#,##0" sourceLinked="0"/>
            <c:spPr>
              <a:noFill/>
              <a:ln>
                <a:noFill/>
              </a:ln>
              <a:effectLst/>
            </c:spPr>
            <c:txPr>
              <a:bodyPr/>
              <a:lstStyle/>
              <a:p>
                <a:pPr>
                  <a:defRPr sz="1100" b="0" i="0" u="none" strike="noStrike">
                    <a:solidFill>
                      <a:srgbClr val="1E1B4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BFS</c:v>
                </c:pt>
                <c:pt idx="1">
                  <c:v>DFS</c:v>
                </c:pt>
                <c:pt idx="2">
                  <c:v>Backtracking</c:v>
                </c:pt>
              </c:strCache>
            </c:strRef>
          </c:cat>
          <c:val>
            <c:numRef>
              <c:f>Sheet1!$C$2:$C$4</c:f>
              <c:numCache>
                <c:formatCode>General</c:formatCode>
                <c:ptCount val="3"/>
                <c:pt idx="0">
                  <c:v>197</c:v>
                </c:pt>
                <c:pt idx="1">
                  <c:v>131</c:v>
                </c:pt>
                <c:pt idx="2">
                  <c:v>131</c:v>
                </c:pt>
              </c:numCache>
            </c:numRef>
          </c:val>
          <c:extLst>
            <c:ext xmlns:c16="http://schemas.microsoft.com/office/drawing/2014/chart" uri="{C3380CC4-5D6E-409C-BE32-E72D297353CC}">
              <c16:uniqueId val="{00000001-67A7-489D-AB55-86074DDF4D6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34155"/>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6154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judges, we are [team]. Every computer science student learns BFS, DFS and Backtracking, but most only see the final answer on paper. We built the Maze Solver Game so you can watch the algorithms think.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 finding is everywhere. The problem is that students memorize the rule but cannot picture the search. Our challenge: show HOW the answer is found, compare fairly, and keep it simple.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just showing the final path, the app replays every decision: which cell is explored, where it hit a dead end, and which choices were undone. All three algorithms run on exactly the same maze.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choose size, difficulty and algorithm. The app builds the maze, the algorithm searches and records events, then we get the path, the metrics and a comparison on the same maze.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BFS: queue, shortest path in an unweighted maze. DFS: stack, goes deep first, finds a path but not always the shortest. Backtracking: recursion that follows choose, explore, dead end, undo, try another, and we count every undo.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All runs the three algorithms on exactly the same maze, same start and goal. On this maze BFS found a 64-step path, while DFS and Backtracking found 108 steps but visited fewer cells. This is one maze only; other mazes can differ. Show your live demo and screenshots 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three algorithms, a live replay and a fair comparison, tested with nine automated tests. Next: A* and Dijkstra, weighted mazes, a click-to-draw editor and a quiz mode. Our motto: Dont just learn how algorithms work, watch them work. Thank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1B4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914400"/>
            <a:ext cx="4937760" cy="10972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E1B4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5B4FC"/>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502920"/>
            <a:ext cx="4937760" cy="274320"/>
          </a:xfrm>
          <a:prstGeom prst="rect">
            <a:avLst/>
          </a:prstGeom>
          <a:noFill/>
          <a:ln/>
        </p:spPr>
        <p:txBody>
          <a:bodyPr wrap="square" lIns="0" tIns="0" rIns="0" bIns="0" rtlCol="0" anchor="ctr"/>
          <a:lstStyle/>
          <a:p>
            <a:pPr marL="0" indent="0">
              <a:buNone/>
            </a:pPr>
            <a:endParaRPr lang="en-US" sz="1200" dirty="0"/>
          </a:p>
        </p:txBody>
      </p:sp>
      <p:sp>
        <p:nvSpPr>
          <p:cNvPr id="3" name="Text 0"/>
          <p:cNvSpPr>
            <a:spLocks noGrp="1"/>
          </p:cNvSpPr>
          <p:nvPr>
            <p:ph type="title" idx="100" hasCustomPrompt="1"/>
          </p:nvPr>
        </p:nvSpPr>
        <p:spPr>
          <a:xfrm>
            <a:off x="548640" y="914400"/>
            <a:ext cx="4937760" cy="1097280"/>
          </a:xfrm>
          <a:prstGeom prst="rect">
            <a:avLst/>
          </a:prstGeom>
          <a:noFill/>
          <a:ln/>
        </p:spPr>
        <p:txBody>
          <a:bodyPr wrap="square" lIns="0" tIns="0" rIns="0" bIns="0" rtlCol="0" anchor="t"/>
          <a:lstStyle/>
          <a:p>
            <a:pPr marL="0" indent="0" algn="l">
              <a:buNone/>
            </a:pPr>
            <a:r>
              <a:rPr lang="en-US" sz="4400" b="1" dirty="0">
                <a:solidFill>
                  <a:schemeClr val="bg1"/>
                </a:solidFill>
              </a:rPr>
              <a:t>Maze Solver Game</a:t>
            </a:r>
            <a:endParaRPr lang="en-US" sz="4400" dirty="0"/>
          </a:p>
        </p:txBody>
      </p:sp>
      <p:sp>
        <p:nvSpPr>
          <p:cNvPr id="4" name="Subtitle"/>
          <p:cNvSpPr txBox="1"/>
          <p:nvPr/>
        </p:nvSpPr>
        <p:spPr>
          <a:xfrm>
            <a:off x="548640" y="2011680"/>
            <a:ext cx="4937760" cy="411480"/>
          </a:xfrm>
          <a:prstGeom prst="rect">
            <a:avLst/>
          </a:prstGeom>
          <a:noFill/>
          <a:ln/>
        </p:spPr>
        <p:txBody>
          <a:bodyPr wrap="square" lIns="0" tIns="0" rIns="0" bIns="0" rtlCol="0" anchor="ctr"/>
          <a:lstStyle/>
          <a:p>
            <a:pPr marL="0" indent="0">
              <a:buNone/>
            </a:pPr>
            <a:r>
              <a:rPr lang="en-US" sz="2000" dirty="0">
                <a:solidFill>
                  <a:schemeClr val="bg2"/>
                </a:solidFill>
              </a:rPr>
              <a:t>Comparing BFS, DFS and Backtracking</a:t>
            </a:r>
            <a:endParaRPr lang="en-US" sz="2000" dirty="0"/>
          </a:p>
        </p:txBody>
      </p:sp>
      <p:sp>
        <p:nvSpPr>
          <p:cNvPr id="5" name="One-line idea"/>
          <p:cNvSpPr txBox="1"/>
          <p:nvPr/>
        </p:nvSpPr>
        <p:spPr>
          <a:xfrm>
            <a:off x="548640" y="2651760"/>
            <a:ext cx="4663440" cy="868680"/>
          </a:xfrm>
          <a:prstGeom prst="rect">
            <a:avLst/>
          </a:prstGeom>
          <a:noFill/>
          <a:ln/>
        </p:spPr>
        <p:txBody>
          <a:bodyPr wrap="square" lIns="0" tIns="0" rIns="0" bIns="0" rtlCol="0" anchor="t"/>
          <a:lstStyle/>
          <a:p>
            <a:pPr marL="0" indent="0">
              <a:buNone/>
            </a:pPr>
            <a:r>
              <a:rPr lang="en-US" sz="1600" i="1" dirty="0">
                <a:solidFill>
                  <a:schemeClr val="accent2"/>
                </a:solidFill>
              </a:rPr>
              <a:t>“An interactive maze game that visualizes and compares BFS, DFS and Backtracking.”</a:t>
            </a:r>
            <a:endParaRPr lang="en-US" sz="1600" dirty="0"/>
          </a:p>
        </p:txBody>
      </p:sp>
      <p:sp>
        <p:nvSpPr>
          <p:cNvPr id="6" name="Team details"/>
          <p:cNvSpPr txBox="1"/>
          <p:nvPr/>
        </p:nvSpPr>
        <p:spPr>
          <a:xfrm>
            <a:off x="560364" y="3657600"/>
            <a:ext cx="4937760" cy="914400"/>
          </a:xfrm>
          <a:prstGeom prst="rect">
            <a:avLst/>
          </a:prstGeom>
          <a:noFill/>
          <a:ln/>
        </p:spPr>
        <p:txBody>
          <a:bodyPr wrap="square" lIns="0" tIns="0" rIns="0" bIns="0" rtlCol="0" anchor="t"/>
          <a:lstStyle/>
          <a:p>
            <a:pPr marL="0" indent="0">
              <a:spcAft>
                <a:spcPts val="300"/>
              </a:spcAft>
              <a:buNone/>
            </a:pPr>
            <a:r>
              <a:rPr lang="en-US" sz="1300" b="1" dirty="0">
                <a:solidFill>
                  <a:schemeClr val="bg1"/>
                </a:solidFill>
              </a:rPr>
              <a:t>Team: N . Vinesh Goud (25MVCSMR0064)</a:t>
            </a:r>
          </a:p>
          <a:p>
            <a:pPr>
              <a:spcAft>
                <a:spcPts val="300"/>
              </a:spcAft>
            </a:pPr>
            <a:r>
              <a:rPr lang="en-US" sz="1300" b="1" dirty="0">
                <a:solidFill>
                  <a:schemeClr val="bg1"/>
                </a:solidFill>
              </a:rPr>
              <a:t>            I . Pranav Reddy (25MVCSMR0040)</a:t>
            </a:r>
          </a:p>
          <a:p>
            <a:pPr>
              <a:spcAft>
                <a:spcPts val="300"/>
              </a:spcAft>
            </a:pPr>
            <a:r>
              <a:rPr lang="en-US" sz="1300" b="1" dirty="0">
                <a:solidFill>
                  <a:schemeClr val="bg1"/>
                </a:solidFill>
              </a:rPr>
              <a:t>            K .Poorna Chary (25MVCSMR0041)</a:t>
            </a:r>
          </a:p>
          <a:p>
            <a:pPr>
              <a:spcAft>
                <a:spcPts val="300"/>
              </a:spcAft>
            </a:pPr>
            <a:r>
              <a:rPr lang="en-US" sz="1300" b="1" dirty="0">
                <a:solidFill>
                  <a:schemeClr val="bg1"/>
                </a:solidFill>
              </a:rPr>
              <a:t>            Shaik Faraaz (25MVCSMR0079)</a:t>
            </a:r>
            <a:endParaRPr lang="en-US" sz="1300" dirty="0"/>
          </a:p>
          <a:p>
            <a:pPr marL="0" indent="0">
              <a:spcAft>
                <a:spcPts val="300"/>
              </a:spcAft>
              <a:buNone/>
            </a:pPr>
            <a:r>
              <a:rPr lang="en-US" sz="1300" b="1" dirty="0">
                <a:solidFill>
                  <a:schemeClr val="bg1"/>
                </a:solidFill>
              </a:rPr>
              <a:t>College: </a:t>
            </a:r>
            <a:r>
              <a:rPr lang="en-US" sz="1300" dirty="0">
                <a:solidFill>
                  <a:schemeClr val="bg1"/>
                </a:solidFill>
              </a:rPr>
              <a:t>Malla Reddy Technical Campus</a:t>
            </a:r>
            <a:endParaRPr lang="en-US" sz="1300" dirty="0"/>
          </a:p>
          <a:p>
            <a:pPr marL="0" indent="0">
              <a:spcAft>
                <a:spcPts val="300"/>
              </a:spcAft>
              <a:buNone/>
            </a:pPr>
            <a:r>
              <a:rPr lang="en-US" sz="1300" b="1" dirty="0">
                <a:solidFill>
                  <a:schemeClr val="bg1"/>
                </a:solidFill>
              </a:rPr>
              <a:t>Domain: </a:t>
            </a:r>
            <a:r>
              <a:rPr lang="en-US" sz="1300" dirty="0">
                <a:solidFill>
                  <a:schemeClr val="bg1"/>
                </a:solidFill>
              </a:rPr>
              <a:t>Design </a:t>
            </a:r>
            <a:endParaRPr lang="en-US" sz="1300" dirty="0"/>
          </a:p>
        </p:txBody>
      </p:sp>
      <p:sp>
        <p:nvSpPr>
          <p:cNvPr id="7" name="Maze card"/>
          <p:cNvSpPr/>
          <p:nvPr/>
        </p:nvSpPr>
        <p:spPr>
          <a:xfrm>
            <a:off x="5760720" y="777240"/>
            <a:ext cx="2926080" cy="2926080"/>
          </a:xfrm>
          <a:prstGeom prst="roundRect">
            <a:avLst>
              <a:gd name="adj" fmla="val 4688"/>
            </a:avLst>
          </a:prstGeom>
          <a:solidFill>
            <a:schemeClr val="bg1"/>
          </a:solidFill>
          <a:ln w="12700">
            <a:solidFill>
              <a:schemeClr val="bg1"/>
            </a:solidFill>
            <a:prstDash val="solid"/>
          </a:ln>
          <a:effectLst>
            <a:outerShdw blurRad="76200" dist="25400" dir="5400000" algn="bl" rotWithShape="0">
              <a:srgbClr val="000000">
                <a:alpha val="18000"/>
              </a:srgbClr>
            </a:outerShdw>
          </a:effectLst>
        </p:spPr>
      </p:sp>
      <p:pic>
        <p:nvPicPr>
          <p:cNvPr id="8" name="BFS maze picture" descr="BFS searching a maze: yellow visited cells spreading in bands"/>
          <p:cNvPicPr>
            <a:picLocks noChangeAspect="1"/>
          </p:cNvPicPr>
          <p:nvPr/>
        </p:nvPicPr>
        <p:blipFill>
          <a:blip r:embed="rId3"/>
          <a:stretch>
            <a:fillRect/>
          </a:stretch>
        </p:blipFill>
        <p:spPr>
          <a:xfrm>
            <a:off x="5897880" y="914400"/>
            <a:ext cx="2651760" cy="2651760"/>
          </a:xfrm>
          <a:prstGeom prst="rect">
            <a:avLst/>
          </a:prstGeom>
        </p:spPr>
      </p:pic>
      <p:sp>
        <p:nvSpPr>
          <p:cNvPr id="9" name="Maze caption"/>
          <p:cNvSpPr txBox="1"/>
          <p:nvPr/>
        </p:nvSpPr>
        <p:spPr>
          <a:xfrm>
            <a:off x="5760720" y="3794760"/>
            <a:ext cx="2926080" cy="274320"/>
          </a:xfrm>
          <a:prstGeom prst="rect">
            <a:avLst/>
          </a:prstGeom>
          <a:noFill/>
          <a:ln/>
        </p:spPr>
        <p:txBody>
          <a:bodyPr wrap="square" lIns="0" tIns="0" rIns="0" bIns="0" rtlCol="0" anchor="ctr"/>
          <a:lstStyle/>
          <a:p>
            <a:pPr marL="0" indent="0">
              <a:buNone/>
            </a:pPr>
            <a:r>
              <a:rPr lang="en-US" sz="1000" dirty="0">
                <a:solidFill>
                  <a:srgbClr val="A5B4FC"/>
                </a:solidFill>
              </a:rPr>
              <a:t>BFS exploring a maze, drawn by our app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The Challenge</a:t>
            </a:r>
            <a:endParaRPr lang="en-US" sz="3400" dirty="0"/>
          </a:p>
        </p:txBody>
      </p:sp>
      <p:sp>
        <p:nvSpPr>
          <p:cNvPr id="3" name="Card 1"/>
          <p:cNvSpPr/>
          <p:nvPr/>
        </p:nvSpPr>
        <p:spPr>
          <a:xfrm>
            <a:off x="457200" y="1280160"/>
            <a:ext cx="2606040" cy="2834640"/>
          </a:xfrm>
          <a:prstGeom prst="roundRect">
            <a:avLst>
              <a:gd name="adj" fmla="val 4211"/>
            </a:avLst>
          </a:prstGeom>
          <a:solidFill>
            <a:schemeClr val="bg2"/>
          </a:solidFill>
          <a:ln w="12700">
            <a:solidFill>
              <a:schemeClr val="bg2"/>
            </a:solidFill>
            <a:prstDash val="solid"/>
          </a:ln>
          <a:effectLst>
            <a:outerShdw blurRad="76200" dist="25400" dir="5400000" algn="bl" rotWithShape="0">
              <a:srgbClr val="000000">
                <a:alpha val="18000"/>
              </a:srgbClr>
            </a:outerShdw>
          </a:effectLst>
        </p:spPr>
      </p:sp>
      <p:sp>
        <p:nvSpPr>
          <p:cNvPr id="4" name="Real-world context circle"/>
          <p:cNvSpPr/>
          <p:nvPr/>
        </p:nvSpPr>
        <p:spPr>
          <a:xfrm>
            <a:off x="731520" y="1554480"/>
            <a:ext cx="777240" cy="777240"/>
          </a:xfrm>
          <a:prstGeom prst="ellipse">
            <a:avLst/>
          </a:prstGeom>
          <a:solidFill>
            <a:srgbClr val="2563EB"/>
          </a:solidFill>
          <a:ln w="12700">
            <a:solidFill>
              <a:srgbClr val="2563EB"/>
            </a:solidFill>
            <a:prstDash val="solid"/>
          </a:ln>
        </p:spPr>
      </p:sp>
      <p:pic>
        <p:nvPicPr>
          <p:cNvPr id="5" name="Real-world context icon" descr="Real-world context"/>
          <p:cNvPicPr>
            <a:picLocks noChangeAspect="1"/>
          </p:cNvPicPr>
          <p:nvPr/>
        </p:nvPicPr>
        <p:blipFill>
          <a:blip r:embed="rId3"/>
          <a:stretch>
            <a:fillRect/>
          </a:stretch>
        </p:blipFill>
        <p:spPr>
          <a:xfrm>
            <a:off x="925830" y="1748790"/>
            <a:ext cx="388620" cy="388620"/>
          </a:xfrm>
          <a:prstGeom prst="rect">
            <a:avLst/>
          </a:prstGeom>
        </p:spPr>
      </p:pic>
      <p:sp>
        <p:nvSpPr>
          <p:cNvPr id="6" name="Real-world context heading"/>
          <p:cNvSpPr txBox="1"/>
          <p:nvPr/>
        </p:nvSpPr>
        <p:spPr>
          <a:xfrm>
            <a:off x="731520" y="2468880"/>
            <a:ext cx="2103120" cy="411480"/>
          </a:xfrm>
          <a:prstGeom prst="rect">
            <a:avLst/>
          </a:prstGeom>
          <a:noFill/>
          <a:ln/>
        </p:spPr>
        <p:txBody>
          <a:bodyPr wrap="square" lIns="0" tIns="0" rIns="0" bIns="0" rtlCol="0" anchor="ctr"/>
          <a:lstStyle/>
          <a:p>
            <a:pPr marL="0" indent="0">
              <a:buNone/>
            </a:pPr>
            <a:r>
              <a:rPr lang="en-US" sz="2000" b="1" dirty="0">
                <a:solidFill>
                  <a:schemeClr val="tx2"/>
                </a:solidFill>
              </a:rPr>
              <a:t>Real-world context</a:t>
            </a:r>
            <a:endParaRPr lang="en-US" sz="2000" dirty="0"/>
          </a:p>
        </p:txBody>
      </p:sp>
      <p:sp>
        <p:nvSpPr>
          <p:cNvPr id="7" name="Real-world context text"/>
          <p:cNvSpPr txBox="1"/>
          <p:nvPr/>
        </p:nvSpPr>
        <p:spPr>
          <a:xfrm>
            <a:off x="731520" y="2971800"/>
            <a:ext cx="2103120" cy="1097280"/>
          </a:xfrm>
          <a:prstGeom prst="rect">
            <a:avLst/>
          </a:prstGeom>
          <a:noFill/>
          <a:ln/>
        </p:spPr>
        <p:txBody>
          <a:bodyPr wrap="square" lIns="0" tIns="0" rIns="0" bIns="0" rtlCol="0" anchor="t"/>
          <a:lstStyle/>
          <a:p>
            <a:pPr marL="0" indent="0">
              <a:spcAft>
                <a:spcPts val="400"/>
              </a:spcAft>
              <a:buNone/>
            </a:pPr>
            <a:r>
              <a:rPr lang="en-US" sz="1400" dirty="0">
                <a:solidFill>
                  <a:schemeClr val="tx1"/>
                </a:solidFill>
              </a:rPr>
              <a:t>Route finding powers maps, games, robots and networks</a:t>
            </a:r>
            <a:endParaRPr lang="en-US" sz="1400" dirty="0"/>
          </a:p>
        </p:txBody>
      </p:sp>
      <p:sp>
        <p:nvSpPr>
          <p:cNvPr id="8" name="Card 2"/>
          <p:cNvSpPr/>
          <p:nvPr/>
        </p:nvSpPr>
        <p:spPr>
          <a:xfrm>
            <a:off x="3268980" y="1280160"/>
            <a:ext cx="2606040" cy="2834640"/>
          </a:xfrm>
          <a:prstGeom prst="roundRect">
            <a:avLst>
              <a:gd name="adj" fmla="val 4211"/>
            </a:avLst>
          </a:prstGeom>
          <a:solidFill>
            <a:schemeClr val="bg2"/>
          </a:solidFill>
          <a:ln w="12700">
            <a:solidFill>
              <a:schemeClr val="bg2"/>
            </a:solidFill>
            <a:prstDash val="solid"/>
          </a:ln>
          <a:effectLst>
            <a:outerShdw blurRad="76200" dist="25400" dir="5400000" algn="bl" rotWithShape="0">
              <a:srgbClr val="000000">
                <a:alpha val="18000"/>
              </a:srgbClr>
            </a:outerShdw>
          </a:effectLst>
        </p:spPr>
      </p:sp>
      <p:sp>
        <p:nvSpPr>
          <p:cNvPr id="9" name="Why it matters circle"/>
          <p:cNvSpPr/>
          <p:nvPr/>
        </p:nvSpPr>
        <p:spPr>
          <a:xfrm>
            <a:off x="3543300" y="1554480"/>
            <a:ext cx="777240" cy="777240"/>
          </a:xfrm>
          <a:prstGeom prst="ellipse">
            <a:avLst/>
          </a:prstGeom>
          <a:solidFill>
            <a:srgbClr val="7C3AED"/>
          </a:solidFill>
          <a:ln w="12700">
            <a:solidFill>
              <a:srgbClr val="7C3AED"/>
            </a:solidFill>
            <a:prstDash val="solid"/>
          </a:ln>
        </p:spPr>
      </p:sp>
      <p:pic>
        <p:nvPicPr>
          <p:cNvPr id="10" name="Why it matters icon" descr="Why it matters"/>
          <p:cNvPicPr>
            <a:picLocks noChangeAspect="1"/>
          </p:cNvPicPr>
          <p:nvPr/>
        </p:nvPicPr>
        <p:blipFill>
          <a:blip r:embed="rId4"/>
          <a:stretch>
            <a:fillRect/>
          </a:stretch>
        </p:blipFill>
        <p:spPr>
          <a:xfrm>
            <a:off x="3737610" y="1748790"/>
            <a:ext cx="388620" cy="388620"/>
          </a:xfrm>
          <a:prstGeom prst="rect">
            <a:avLst/>
          </a:prstGeom>
        </p:spPr>
      </p:pic>
      <p:sp>
        <p:nvSpPr>
          <p:cNvPr id="11" name="Why it matters heading"/>
          <p:cNvSpPr txBox="1"/>
          <p:nvPr/>
        </p:nvSpPr>
        <p:spPr>
          <a:xfrm>
            <a:off x="3543300" y="2468880"/>
            <a:ext cx="2103120" cy="411480"/>
          </a:xfrm>
          <a:prstGeom prst="rect">
            <a:avLst/>
          </a:prstGeom>
          <a:noFill/>
          <a:ln/>
        </p:spPr>
        <p:txBody>
          <a:bodyPr wrap="square" lIns="0" tIns="0" rIns="0" bIns="0" rtlCol="0" anchor="ctr"/>
          <a:lstStyle/>
          <a:p>
            <a:pPr marL="0" indent="0">
              <a:buNone/>
            </a:pPr>
            <a:r>
              <a:rPr lang="en-US" sz="2000" b="1" dirty="0">
                <a:solidFill>
                  <a:schemeClr val="tx2"/>
                </a:solidFill>
              </a:rPr>
              <a:t>Why it matters</a:t>
            </a:r>
            <a:endParaRPr lang="en-US" sz="2000" dirty="0"/>
          </a:p>
        </p:txBody>
      </p:sp>
      <p:sp>
        <p:nvSpPr>
          <p:cNvPr id="12" name="Why it matters text"/>
          <p:cNvSpPr txBox="1"/>
          <p:nvPr/>
        </p:nvSpPr>
        <p:spPr>
          <a:xfrm>
            <a:off x="3543300" y="2971800"/>
            <a:ext cx="2103120" cy="1097280"/>
          </a:xfrm>
          <a:prstGeom prst="rect">
            <a:avLst/>
          </a:prstGeom>
          <a:noFill/>
          <a:ln/>
        </p:spPr>
        <p:txBody>
          <a:bodyPr wrap="square" lIns="0" tIns="0" rIns="0" bIns="0" rtlCol="0" anchor="t"/>
          <a:lstStyle/>
          <a:p>
            <a:pPr marL="0" indent="0">
              <a:spcAft>
                <a:spcPts val="400"/>
              </a:spcAft>
              <a:buNone/>
            </a:pPr>
            <a:r>
              <a:rPr lang="en-US" sz="1400" dirty="0">
                <a:solidFill>
                  <a:schemeClr val="tx1"/>
                </a:solidFill>
              </a:rPr>
              <a:t>Students memorize “BFS = queue” but cannot picture it</a:t>
            </a:r>
            <a:endParaRPr lang="en-US" sz="1400" dirty="0"/>
          </a:p>
        </p:txBody>
      </p:sp>
      <p:sp>
        <p:nvSpPr>
          <p:cNvPr id="13" name="Card 3"/>
          <p:cNvSpPr/>
          <p:nvPr/>
        </p:nvSpPr>
        <p:spPr>
          <a:xfrm>
            <a:off x="6080760" y="1280160"/>
            <a:ext cx="2606040" cy="2834640"/>
          </a:xfrm>
          <a:prstGeom prst="roundRect">
            <a:avLst>
              <a:gd name="adj" fmla="val 4211"/>
            </a:avLst>
          </a:prstGeom>
          <a:solidFill>
            <a:schemeClr val="bg2"/>
          </a:solidFill>
          <a:ln w="12700">
            <a:solidFill>
              <a:schemeClr val="bg2"/>
            </a:solidFill>
            <a:prstDash val="solid"/>
          </a:ln>
          <a:effectLst>
            <a:outerShdw blurRad="76200" dist="25400" dir="5400000" algn="bl" rotWithShape="0">
              <a:srgbClr val="000000">
                <a:alpha val="18000"/>
              </a:srgbClr>
            </a:outerShdw>
          </a:effectLst>
        </p:spPr>
      </p:sp>
      <p:sp>
        <p:nvSpPr>
          <p:cNvPr id="14" name="Key challenges circle"/>
          <p:cNvSpPr/>
          <p:nvPr/>
        </p:nvSpPr>
        <p:spPr>
          <a:xfrm>
            <a:off x="6355080" y="1554480"/>
            <a:ext cx="777240" cy="777240"/>
          </a:xfrm>
          <a:prstGeom prst="ellipse">
            <a:avLst/>
          </a:prstGeom>
          <a:solidFill>
            <a:srgbClr val="14B8A6"/>
          </a:solidFill>
          <a:ln w="12700">
            <a:solidFill>
              <a:srgbClr val="14B8A6"/>
            </a:solidFill>
            <a:prstDash val="solid"/>
          </a:ln>
        </p:spPr>
      </p:sp>
      <p:pic>
        <p:nvPicPr>
          <p:cNvPr id="15" name="Key challenges icon" descr="Key challenges"/>
          <p:cNvPicPr>
            <a:picLocks noChangeAspect="1"/>
          </p:cNvPicPr>
          <p:nvPr/>
        </p:nvPicPr>
        <p:blipFill>
          <a:blip r:embed="rId5"/>
          <a:stretch>
            <a:fillRect/>
          </a:stretch>
        </p:blipFill>
        <p:spPr>
          <a:xfrm>
            <a:off x="6549390" y="1748790"/>
            <a:ext cx="388620" cy="388620"/>
          </a:xfrm>
          <a:prstGeom prst="rect">
            <a:avLst/>
          </a:prstGeom>
        </p:spPr>
      </p:pic>
      <p:sp>
        <p:nvSpPr>
          <p:cNvPr id="16" name="Key challenges heading"/>
          <p:cNvSpPr txBox="1"/>
          <p:nvPr/>
        </p:nvSpPr>
        <p:spPr>
          <a:xfrm>
            <a:off x="6355080" y="2468880"/>
            <a:ext cx="2103120" cy="411480"/>
          </a:xfrm>
          <a:prstGeom prst="rect">
            <a:avLst/>
          </a:prstGeom>
          <a:noFill/>
          <a:ln/>
        </p:spPr>
        <p:txBody>
          <a:bodyPr wrap="square" lIns="0" tIns="0" rIns="0" bIns="0" rtlCol="0" anchor="ctr"/>
          <a:lstStyle/>
          <a:p>
            <a:pPr marL="0" indent="0">
              <a:buNone/>
            </a:pPr>
            <a:r>
              <a:rPr lang="en-US" sz="2000" b="1" dirty="0">
                <a:solidFill>
                  <a:schemeClr val="tx2"/>
                </a:solidFill>
              </a:rPr>
              <a:t>Key challenges</a:t>
            </a:r>
            <a:endParaRPr lang="en-US" sz="2000" dirty="0"/>
          </a:p>
        </p:txBody>
      </p:sp>
      <p:sp>
        <p:nvSpPr>
          <p:cNvPr id="17" name="Key challenges text"/>
          <p:cNvSpPr txBox="1"/>
          <p:nvPr/>
        </p:nvSpPr>
        <p:spPr>
          <a:xfrm>
            <a:off x="6355080" y="2971800"/>
            <a:ext cx="2103120" cy="1097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Show HOW, not just the answer</a:t>
            </a:r>
            <a:endParaRPr lang="en-US" sz="1400" dirty="0"/>
          </a:p>
          <a:p>
            <a:pPr marL="342900" indent="-342900">
              <a:spcAft>
                <a:spcPts val="400"/>
              </a:spcAft>
              <a:buSzPct val="100000"/>
              <a:buChar char="•"/>
            </a:pPr>
            <a:r>
              <a:rPr lang="en-US" sz="1400" dirty="0">
                <a:solidFill>
                  <a:schemeClr val="tx1"/>
                </a:solidFill>
              </a:rPr>
              <a:t>Compare fairly</a:t>
            </a:r>
            <a:endParaRPr lang="en-US" sz="1400" dirty="0"/>
          </a:p>
          <a:p>
            <a:pPr marL="342900" indent="-342900">
              <a:spcAft>
                <a:spcPts val="400"/>
              </a:spcAft>
              <a:buSzPct val="100000"/>
              <a:buChar char="•"/>
            </a:pPr>
            <a:r>
              <a:rPr lang="en-US" sz="1400" dirty="0">
                <a:solidFill>
                  <a:schemeClr val="tx1"/>
                </a:solidFill>
              </a:rPr>
              <a:t>Keep it simple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Our Innovation</a:t>
            </a:r>
            <a:endParaRPr lang="en-US" sz="3400" dirty="0"/>
          </a:p>
        </p:txBody>
      </p:sp>
      <p:sp>
        <p:nvSpPr>
          <p:cNvPr id="3" name="Quote band"/>
          <p:cNvSpPr/>
          <p:nvPr/>
        </p:nvSpPr>
        <p:spPr>
          <a:xfrm>
            <a:off x="457200" y="1097280"/>
            <a:ext cx="8229600" cy="685800"/>
          </a:xfrm>
          <a:prstGeom prst="roundRect">
            <a:avLst>
              <a:gd name="adj" fmla="val 13333"/>
            </a:avLst>
          </a:prstGeom>
          <a:solidFill>
            <a:schemeClr val="bg2"/>
          </a:solidFill>
          <a:ln w="12700">
            <a:solidFill>
              <a:schemeClr val="bg2"/>
            </a:solidFill>
            <a:prstDash val="solid"/>
          </a:ln>
        </p:spPr>
      </p:sp>
      <p:sp>
        <p:nvSpPr>
          <p:cNvPr id="4" name="Core idea"/>
          <p:cNvSpPr txBox="1"/>
          <p:nvPr/>
        </p:nvSpPr>
        <p:spPr>
          <a:xfrm>
            <a:off x="640080" y="1097280"/>
            <a:ext cx="7863840" cy="685800"/>
          </a:xfrm>
          <a:prstGeom prst="rect">
            <a:avLst/>
          </a:prstGeom>
          <a:noFill/>
          <a:ln/>
        </p:spPr>
        <p:txBody>
          <a:bodyPr wrap="square" lIns="0" tIns="0" rIns="0" bIns="0" rtlCol="0" anchor="ctr"/>
          <a:lstStyle/>
          <a:p>
            <a:pPr marL="0" indent="0">
              <a:buNone/>
            </a:pPr>
            <a:r>
              <a:rPr lang="en-US" sz="1800" b="1" i="1" dirty="0">
                <a:solidFill>
                  <a:schemeClr val="accent1"/>
                </a:solidFill>
              </a:rPr>
              <a:t>The user can see HOW the algorithm finds the solution, not just the final path.</a:t>
            </a:r>
            <a:endParaRPr lang="en-US" sz="1800" dirty="0"/>
          </a:p>
        </p:txBody>
      </p:sp>
      <p:sp>
        <p:nvSpPr>
          <p:cNvPr id="5" name="Picture card 1"/>
          <p:cNvSpPr/>
          <p:nvPr/>
        </p:nvSpPr>
        <p:spPr>
          <a:xfrm>
            <a:off x="457200" y="1965960"/>
            <a:ext cx="2606040" cy="2240280"/>
          </a:xfrm>
          <a:prstGeom prst="roundRect">
            <a:avLst>
              <a:gd name="adj" fmla="val 4898"/>
            </a:avLst>
          </a:prstGeom>
          <a:solidFill>
            <a:schemeClr val="bg1"/>
          </a:solidFill>
          <a:ln w="12700">
            <a:solidFill>
              <a:schemeClr val="bg2"/>
            </a:solidFill>
            <a:prstDash val="solid"/>
          </a:ln>
          <a:effectLst>
            <a:outerShdw blurRad="76200" dist="25400" dir="5400000" algn="bl" rotWithShape="0">
              <a:srgbClr val="000000">
                <a:alpha val="18000"/>
              </a:srgbClr>
            </a:outerShdw>
          </a:effectLst>
        </p:spPr>
      </p:sp>
      <p:pic>
        <p:nvPicPr>
          <p:cNvPr id="6" name="Maze picture 1" descr="BFS halfway: yellow bands show levels"/>
          <p:cNvPicPr>
            <a:picLocks noChangeAspect="1"/>
          </p:cNvPicPr>
          <p:nvPr/>
        </p:nvPicPr>
        <p:blipFill>
          <a:blip r:embed="rId3"/>
          <a:stretch>
            <a:fillRect/>
          </a:stretch>
        </p:blipFill>
        <p:spPr>
          <a:xfrm>
            <a:off x="982980" y="2057400"/>
            <a:ext cx="1554480" cy="1554480"/>
          </a:xfrm>
          <a:prstGeom prst="rect">
            <a:avLst/>
          </a:prstGeom>
        </p:spPr>
      </p:pic>
      <p:sp>
        <p:nvSpPr>
          <p:cNvPr id="7" name="Picture caption 1"/>
          <p:cNvSpPr txBox="1"/>
          <p:nvPr/>
        </p:nvSpPr>
        <p:spPr>
          <a:xfrm>
            <a:off x="594360" y="3657600"/>
            <a:ext cx="2331720" cy="457200"/>
          </a:xfrm>
          <a:prstGeom prst="rect">
            <a:avLst/>
          </a:prstGeom>
          <a:noFill/>
          <a:ln/>
        </p:spPr>
        <p:txBody>
          <a:bodyPr wrap="square" lIns="0" tIns="0" rIns="0" bIns="0" rtlCol="0" anchor="ctr"/>
          <a:lstStyle/>
          <a:p>
            <a:pPr marL="0" indent="0">
              <a:buNone/>
            </a:pPr>
            <a:r>
              <a:rPr lang="en-US" sz="1400" b="1" dirty="0">
                <a:solidFill>
                  <a:schemeClr val="tx2"/>
                </a:solidFill>
              </a:rPr>
              <a:t>BFS: spreads in rings</a:t>
            </a:r>
            <a:endParaRPr lang="en-US" sz="1400" dirty="0"/>
          </a:p>
        </p:txBody>
      </p:sp>
      <p:sp>
        <p:nvSpPr>
          <p:cNvPr id="8" name="Picture card 2"/>
          <p:cNvSpPr/>
          <p:nvPr/>
        </p:nvSpPr>
        <p:spPr>
          <a:xfrm>
            <a:off x="3268980" y="1965960"/>
            <a:ext cx="2606040" cy="2240280"/>
          </a:xfrm>
          <a:prstGeom prst="roundRect">
            <a:avLst>
              <a:gd name="adj" fmla="val 4898"/>
            </a:avLst>
          </a:prstGeom>
          <a:solidFill>
            <a:schemeClr val="bg1"/>
          </a:solidFill>
          <a:ln w="12700">
            <a:solidFill>
              <a:schemeClr val="bg2"/>
            </a:solidFill>
            <a:prstDash val="solid"/>
          </a:ln>
          <a:effectLst>
            <a:outerShdw blurRad="76200" dist="25400" dir="5400000" algn="bl" rotWithShape="0">
              <a:srgbClr val="000000">
                <a:alpha val="18000"/>
              </a:srgbClr>
            </a:outerShdw>
          </a:effectLst>
        </p:spPr>
      </p:sp>
      <p:pic>
        <p:nvPicPr>
          <p:cNvPr id="9" name="Maze picture 2" descr="DFS halfway: far down a few corridors"/>
          <p:cNvPicPr>
            <a:picLocks noChangeAspect="1"/>
          </p:cNvPicPr>
          <p:nvPr/>
        </p:nvPicPr>
        <p:blipFill>
          <a:blip r:embed="rId4"/>
          <a:stretch>
            <a:fillRect/>
          </a:stretch>
        </p:blipFill>
        <p:spPr>
          <a:xfrm>
            <a:off x="3794760" y="2057400"/>
            <a:ext cx="1554480" cy="1554480"/>
          </a:xfrm>
          <a:prstGeom prst="rect">
            <a:avLst/>
          </a:prstGeom>
        </p:spPr>
      </p:pic>
      <p:sp>
        <p:nvSpPr>
          <p:cNvPr id="10" name="Picture caption 2"/>
          <p:cNvSpPr txBox="1"/>
          <p:nvPr/>
        </p:nvSpPr>
        <p:spPr>
          <a:xfrm>
            <a:off x="3406140" y="3657600"/>
            <a:ext cx="2331720" cy="457200"/>
          </a:xfrm>
          <a:prstGeom prst="rect">
            <a:avLst/>
          </a:prstGeom>
          <a:noFill/>
          <a:ln/>
        </p:spPr>
        <p:txBody>
          <a:bodyPr wrap="square" lIns="0" tIns="0" rIns="0" bIns="0" rtlCol="0" anchor="ctr"/>
          <a:lstStyle/>
          <a:p>
            <a:pPr marL="0" indent="0">
              <a:buNone/>
            </a:pPr>
            <a:r>
              <a:rPr lang="en-US" sz="1400" b="1" dirty="0">
                <a:solidFill>
                  <a:schemeClr val="tx2"/>
                </a:solidFill>
              </a:rPr>
              <a:t>DFS: dives deep first</a:t>
            </a:r>
            <a:endParaRPr lang="en-US" sz="1400" dirty="0"/>
          </a:p>
        </p:txBody>
      </p:sp>
      <p:sp>
        <p:nvSpPr>
          <p:cNvPr id="11" name="Picture card 3"/>
          <p:cNvSpPr/>
          <p:nvPr/>
        </p:nvSpPr>
        <p:spPr>
          <a:xfrm>
            <a:off x="6080760" y="1965960"/>
            <a:ext cx="2606040" cy="2240280"/>
          </a:xfrm>
          <a:prstGeom prst="roundRect">
            <a:avLst>
              <a:gd name="adj" fmla="val 4898"/>
            </a:avLst>
          </a:prstGeom>
          <a:solidFill>
            <a:schemeClr val="bg1"/>
          </a:solidFill>
          <a:ln w="12700">
            <a:solidFill>
              <a:schemeClr val="bg2"/>
            </a:solidFill>
            <a:prstDash val="solid"/>
          </a:ln>
          <a:effectLst>
            <a:outerShdw blurRad="76200" dist="25400" dir="5400000" algn="bl" rotWithShape="0">
              <a:srgbClr val="000000">
                <a:alpha val="18000"/>
              </a:srgbClr>
            </a:outerShdw>
          </a:effectLst>
        </p:spPr>
      </p:sp>
      <p:pic>
        <p:nvPicPr>
          <p:cNvPr id="12" name="Maze picture 3" descr="Backtracking halfway: blue path, purple undone cells"/>
          <p:cNvPicPr>
            <a:picLocks noChangeAspect="1"/>
          </p:cNvPicPr>
          <p:nvPr/>
        </p:nvPicPr>
        <p:blipFill>
          <a:blip r:embed="rId5"/>
          <a:stretch>
            <a:fillRect/>
          </a:stretch>
        </p:blipFill>
        <p:spPr>
          <a:xfrm>
            <a:off x="6606540" y="2057400"/>
            <a:ext cx="1554480" cy="1554480"/>
          </a:xfrm>
          <a:prstGeom prst="rect">
            <a:avLst/>
          </a:prstGeom>
        </p:spPr>
      </p:pic>
      <p:sp>
        <p:nvSpPr>
          <p:cNvPr id="13" name="Picture caption 3"/>
          <p:cNvSpPr txBox="1"/>
          <p:nvPr/>
        </p:nvSpPr>
        <p:spPr>
          <a:xfrm>
            <a:off x="6217920" y="3657600"/>
            <a:ext cx="2331720" cy="457200"/>
          </a:xfrm>
          <a:prstGeom prst="rect">
            <a:avLst/>
          </a:prstGeom>
          <a:noFill/>
          <a:ln/>
        </p:spPr>
        <p:txBody>
          <a:bodyPr wrap="square" lIns="0" tIns="0" rIns="0" bIns="0" rtlCol="0" anchor="ctr"/>
          <a:lstStyle/>
          <a:p>
            <a:pPr marL="0" indent="0">
              <a:buNone/>
            </a:pPr>
            <a:r>
              <a:rPr lang="en-US" sz="1400" b="1" dirty="0">
                <a:solidFill>
                  <a:schemeClr val="tx2"/>
                </a:solidFill>
              </a:rPr>
              <a:t>Backtracking: undoes dead ends</a:t>
            </a:r>
            <a:endParaRPr lang="en-US" sz="1400" dirty="0"/>
          </a:p>
        </p:txBody>
      </p:sp>
      <p:sp>
        <p:nvSpPr>
          <p:cNvPr id="14" name="Feature line"/>
          <p:cNvSpPr txBox="1"/>
          <p:nvPr/>
        </p:nvSpPr>
        <p:spPr>
          <a:xfrm>
            <a:off x="457200" y="4343400"/>
            <a:ext cx="7680960" cy="320040"/>
          </a:xfrm>
          <a:prstGeom prst="rect">
            <a:avLst/>
          </a:prstGeom>
          <a:noFill/>
          <a:ln/>
        </p:spPr>
        <p:txBody>
          <a:bodyPr wrap="square" lIns="0" tIns="0" rIns="0" bIns="0" rtlCol="0" anchor="ctr"/>
          <a:lstStyle/>
          <a:p>
            <a:pPr marL="0" indent="0">
              <a:buNone/>
            </a:pPr>
            <a:r>
              <a:rPr lang="en-US" sz="1400" dirty="0">
                <a:solidFill>
                  <a:schemeClr val="tx1"/>
                </a:solidFill>
              </a:rPr>
              <a:t>Plain-English message at every step   ·   Same maze for all three algorithms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How It Works</a:t>
            </a:r>
            <a:endParaRPr lang="en-US" sz="3400" dirty="0"/>
          </a:p>
        </p:txBody>
      </p:sp>
      <p:sp>
        <p:nvSpPr>
          <p:cNvPr id="3" name="Input circle"/>
          <p:cNvSpPr/>
          <p:nvPr/>
        </p:nvSpPr>
        <p:spPr>
          <a:xfrm>
            <a:off x="679269" y="1325880"/>
            <a:ext cx="731520" cy="731520"/>
          </a:xfrm>
          <a:prstGeom prst="ellipse">
            <a:avLst/>
          </a:prstGeom>
          <a:solidFill>
            <a:srgbClr val="2563EB"/>
          </a:solidFill>
          <a:ln w="12700">
            <a:solidFill>
              <a:srgbClr val="2563EB"/>
            </a:solidFill>
            <a:prstDash val="solid"/>
          </a:ln>
        </p:spPr>
      </p:sp>
      <p:pic>
        <p:nvPicPr>
          <p:cNvPr id="4" name="Input icon" descr="Input"/>
          <p:cNvPicPr>
            <a:picLocks noChangeAspect="1"/>
          </p:cNvPicPr>
          <p:nvPr/>
        </p:nvPicPr>
        <p:blipFill>
          <a:blip r:embed="rId3"/>
          <a:stretch>
            <a:fillRect/>
          </a:stretch>
        </p:blipFill>
        <p:spPr>
          <a:xfrm>
            <a:off x="862149" y="1508760"/>
            <a:ext cx="365760" cy="365760"/>
          </a:xfrm>
          <a:prstGeom prst="rect">
            <a:avLst/>
          </a:prstGeom>
        </p:spPr>
      </p:pic>
      <p:sp>
        <p:nvSpPr>
          <p:cNvPr id="5" name="Input label"/>
          <p:cNvSpPr txBox="1"/>
          <p:nvPr/>
        </p:nvSpPr>
        <p:spPr>
          <a:xfrm>
            <a:off x="457200" y="2194560"/>
            <a:ext cx="1175657" cy="320040"/>
          </a:xfrm>
          <a:prstGeom prst="rect">
            <a:avLst/>
          </a:prstGeom>
          <a:noFill/>
          <a:ln/>
        </p:spPr>
        <p:txBody>
          <a:bodyPr wrap="square" lIns="0" tIns="0" rIns="0" bIns="0" rtlCol="0" anchor="ctr"/>
          <a:lstStyle/>
          <a:p>
            <a:pPr marL="0" indent="0" algn="ctr">
              <a:buNone/>
            </a:pPr>
            <a:r>
              <a:rPr lang="en-US" sz="1400" b="1" dirty="0">
                <a:solidFill>
                  <a:schemeClr val="tx2"/>
                </a:solidFill>
              </a:rPr>
              <a:t>Input</a:t>
            </a:r>
            <a:endParaRPr lang="en-US" sz="1400" dirty="0"/>
          </a:p>
        </p:txBody>
      </p:sp>
      <p:sp>
        <p:nvSpPr>
          <p:cNvPr id="6" name="Input detail"/>
          <p:cNvSpPr txBox="1"/>
          <p:nvPr/>
        </p:nvSpPr>
        <p:spPr>
          <a:xfrm>
            <a:off x="502920" y="2542032"/>
            <a:ext cx="1084217" cy="685800"/>
          </a:xfrm>
          <a:prstGeom prst="rect">
            <a:avLst/>
          </a:prstGeom>
          <a:noFill/>
          <a:ln/>
        </p:spPr>
        <p:txBody>
          <a:bodyPr wrap="square" lIns="0" tIns="0" rIns="0" bIns="0" rtlCol="0" anchor="t"/>
          <a:lstStyle/>
          <a:p>
            <a:pPr marL="0" indent="0" algn="ctr">
              <a:buNone/>
            </a:pPr>
            <a:r>
              <a:rPr lang="en-US" sz="1100" dirty="0">
                <a:solidFill>
                  <a:schemeClr val="tx1"/>
                </a:solidFill>
              </a:rPr>
              <a:t>Size, level, algorithm</a:t>
            </a:r>
            <a:endParaRPr lang="en-US" sz="1100" dirty="0"/>
          </a:p>
        </p:txBody>
      </p:sp>
      <p:sp>
        <p:nvSpPr>
          <p:cNvPr id="7" name="Arrow 1"/>
          <p:cNvSpPr/>
          <p:nvPr/>
        </p:nvSpPr>
        <p:spPr>
          <a:xfrm>
            <a:off x="1447365" y="1691640"/>
            <a:ext cx="370985" cy="0"/>
          </a:xfrm>
          <a:prstGeom prst="line">
            <a:avLst/>
          </a:prstGeom>
          <a:noFill/>
          <a:ln w="22225">
            <a:solidFill>
              <a:srgbClr val="94A3B8"/>
            </a:solidFill>
            <a:prstDash val="solid"/>
            <a:tailEnd type="triangle"/>
          </a:ln>
        </p:spPr>
      </p:sp>
      <p:sp>
        <p:nvSpPr>
          <p:cNvPr id="8" name="Maze circle"/>
          <p:cNvSpPr/>
          <p:nvPr/>
        </p:nvSpPr>
        <p:spPr>
          <a:xfrm>
            <a:off x="1854926" y="1325880"/>
            <a:ext cx="731520" cy="731520"/>
          </a:xfrm>
          <a:prstGeom prst="ellipse">
            <a:avLst/>
          </a:prstGeom>
          <a:solidFill>
            <a:srgbClr val="2563EB"/>
          </a:solidFill>
          <a:ln w="12700">
            <a:solidFill>
              <a:srgbClr val="2563EB"/>
            </a:solidFill>
            <a:prstDash val="solid"/>
          </a:ln>
        </p:spPr>
      </p:sp>
      <p:pic>
        <p:nvPicPr>
          <p:cNvPr id="9" name="Maze icon" descr="Maze"/>
          <p:cNvPicPr>
            <a:picLocks noChangeAspect="1"/>
          </p:cNvPicPr>
          <p:nvPr/>
        </p:nvPicPr>
        <p:blipFill>
          <a:blip r:embed="rId4"/>
          <a:stretch>
            <a:fillRect/>
          </a:stretch>
        </p:blipFill>
        <p:spPr>
          <a:xfrm>
            <a:off x="2037806" y="1508760"/>
            <a:ext cx="365760" cy="365760"/>
          </a:xfrm>
          <a:prstGeom prst="rect">
            <a:avLst/>
          </a:prstGeom>
        </p:spPr>
      </p:pic>
      <p:sp>
        <p:nvSpPr>
          <p:cNvPr id="10" name="Maze label"/>
          <p:cNvSpPr txBox="1"/>
          <p:nvPr/>
        </p:nvSpPr>
        <p:spPr>
          <a:xfrm>
            <a:off x="1632857" y="2194560"/>
            <a:ext cx="1175657" cy="320040"/>
          </a:xfrm>
          <a:prstGeom prst="rect">
            <a:avLst/>
          </a:prstGeom>
          <a:noFill/>
          <a:ln/>
        </p:spPr>
        <p:txBody>
          <a:bodyPr wrap="square" lIns="0" tIns="0" rIns="0" bIns="0" rtlCol="0" anchor="ctr"/>
          <a:lstStyle/>
          <a:p>
            <a:pPr marL="0" indent="0" algn="ctr">
              <a:buNone/>
            </a:pPr>
            <a:r>
              <a:rPr lang="en-US" sz="1400" b="1" dirty="0">
                <a:solidFill>
                  <a:schemeClr val="tx2"/>
                </a:solidFill>
              </a:rPr>
              <a:t>Maze</a:t>
            </a:r>
            <a:endParaRPr lang="en-US" sz="1400" dirty="0"/>
          </a:p>
        </p:txBody>
      </p:sp>
      <p:sp>
        <p:nvSpPr>
          <p:cNvPr id="11" name="Maze detail"/>
          <p:cNvSpPr txBox="1"/>
          <p:nvPr/>
        </p:nvSpPr>
        <p:spPr>
          <a:xfrm>
            <a:off x="1678577" y="2542032"/>
            <a:ext cx="1084217" cy="685800"/>
          </a:xfrm>
          <a:prstGeom prst="rect">
            <a:avLst/>
          </a:prstGeom>
          <a:noFill/>
          <a:ln/>
        </p:spPr>
        <p:txBody>
          <a:bodyPr wrap="square" lIns="0" tIns="0" rIns="0" bIns="0" rtlCol="0" anchor="t"/>
          <a:lstStyle/>
          <a:p>
            <a:pPr marL="0" indent="0" algn="ctr">
              <a:buNone/>
            </a:pPr>
            <a:r>
              <a:rPr lang="en-US" sz="1100" dirty="0">
                <a:solidFill>
                  <a:schemeClr val="tx1"/>
                </a:solidFill>
              </a:rPr>
              <a:t>2D grid of S . # G</a:t>
            </a:r>
            <a:endParaRPr lang="en-US" sz="1100" dirty="0"/>
          </a:p>
        </p:txBody>
      </p:sp>
      <p:sp>
        <p:nvSpPr>
          <p:cNvPr id="12" name="Arrow 2"/>
          <p:cNvSpPr/>
          <p:nvPr/>
        </p:nvSpPr>
        <p:spPr>
          <a:xfrm>
            <a:off x="2623022" y="1691640"/>
            <a:ext cx="370985" cy="0"/>
          </a:xfrm>
          <a:prstGeom prst="line">
            <a:avLst/>
          </a:prstGeom>
          <a:noFill/>
          <a:ln w="22225">
            <a:solidFill>
              <a:srgbClr val="94A3B8"/>
            </a:solidFill>
            <a:prstDash val="solid"/>
            <a:tailEnd type="triangle"/>
          </a:ln>
        </p:spPr>
      </p:sp>
      <p:sp>
        <p:nvSpPr>
          <p:cNvPr id="13" name="Algorithm circle"/>
          <p:cNvSpPr/>
          <p:nvPr/>
        </p:nvSpPr>
        <p:spPr>
          <a:xfrm>
            <a:off x="3030583" y="1325880"/>
            <a:ext cx="731520" cy="731520"/>
          </a:xfrm>
          <a:prstGeom prst="ellipse">
            <a:avLst/>
          </a:prstGeom>
          <a:solidFill>
            <a:srgbClr val="7C3AED"/>
          </a:solidFill>
          <a:ln w="12700">
            <a:solidFill>
              <a:srgbClr val="7C3AED"/>
            </a:solidFill>
            <a:prstDash val="solid"/>
          </a:ln>
        </p:spPr>
      </p:sp>
      <p:pic>
        <p:nvPicPr>
          <p:cNvPr id="14" name="Algorithm icon" descr="Algorithm"/>
          <p:cNvPicPr>
            <a:picLocks noChangeAspect="1"/>
          </p:cNvPicPr>
          <p:nvPr/>
        </p:nvPicPr>
        <p:blipFill>
          <a:blip r:embed="rId5"/>
          <a:stretch>
            <a:fillRect/>
          </a:stretch>
        </p:blipFill>
        <p:spPr>
          <a:xfrm>
            <a:off x="3213463" y="1508760"/>
            <a:ext cx="365760" cy="365760"/>
          </a:xfrm>
          <a:prstGeom prst="rect">
            <a:avLst/>
          </a:prstGeom>
        </p:spPr>
      </p:pic>
      <p:sp>
        <p:nvSpPr>
          <p:cNvPr id="15" name="Algorithm label"/>
          <p:cNvSpPr txBox="1"/>
          <p:nvPr/>
        </p:nvSpPr>
        <p:spPr>
          <a:xfrm>
            <a:off x="2808514" y="2194560"/>
            <a:ext cx="1175657" cy="320040"/>
          </a:xfrm>
          <a:prstGeom prst="rect">
            <a:avLst/>
          </a:prstGeom>
          <a:noFill/>
          <a:ln/>
        </p:spPr>
        <p:txBody>
          <a:bodyPr wrap="square" lIns="0" tIns="0" rIns="0" bIns="0" rtlCol="0" anchor="ctr"/>
          <a:lstStyle/>
          <a:p>
            <a:pPr marL="0" indent="0" algn="ctr">
              <a:buNone/>
            </a:pPr>
            <a:r>
              <a:rPr lang="en-US" sz="1400" b="1" dirty="0">
                <a:solidFill>
                  <a:schemeClr val="tx2"/>
                </a:solidFill>
              </a:rPr>
              <a:t>Algorithm</a:t>
            </a:r>
            <a:endParaRPr lang="en-US" sz="1400" dirty="0"/>
          </a:p>
        </p:txBody>
      </p:sp>
      <p:sp>
        <p:nvSpPr>
          <p:cNvPr id="16" name="Algorithm detail"/>
          <p:cNvSpPr txBox="1"/>
          <p:nvPr/>
        </p:nvSpPr>
        <p:spPr>
          <a:xfrm>
            <a:off x="2854234" y="2542032"/>
            <a:ext cx="1084217" cy="685800"/>
          </a:xfrm>
          <a:prstGeom prst="rect">
            <a:avLst/>
          </a:prstGeom>
          <a:noFill/>
          <a:ln/>
        </p:spPr>
        <p:txBody>
          <a:bodyPr wrap="square" lIns="0" tIns="0" rIns="0" bIns="0" rtlCol="0" anchor="t"/>
          <a:lstStyle/>
          <a:p>
            <a:pPr marL="0" indent="0" algn="ctr">
              <a:buNone/>
            </a:pPr>
            <a:r>
              <a:rPr lang="en-US" sz="1100" dirty="0">
                <a:solidFill>
                  <a:schemeClr val="tx1"/>
                </a:solidFill>
              </a:rPr>
              <a:t>BFS, DFS, Backtracking</a:t>
            </a:r>
            <a:endParaRPr lang="en-US" sz="1100" dirty="0"/>
          </a:p>
        </p:txBody>
      </p:sp>
      <p:sp>
        <p:nvSpPr>
          <p:cNvPr id="17" name="Arrow 3"/>
          <p:cNvSpPr/>
          <p:nvPr/>
        </p:nvSpPr>
        <p:spPr>
          <a:xfrm>
            <a:off x="3798679" y="1691640"/>
            <a:ext cx="370985" cy="0"/>
          </a:xfrm>
          <a:prstGeom prst="line">
            <a:avLst/>
          </a:prstGeom>
          <a:noFill/>
          <a:ln w="22225">
            <a:solidFill>
              <a:srgbClr val="94A3B8"/>
            </a:solidFill>
            <a:prstDash val="solid"/>
            <a:tailEnd type="triangle"/>
          </a:ln>
        </p:spPr>
      </p:sp>
      <p:sp>
        <p:nvSpPr>
          <p:cNvPr id="18" name="Search circle"/>
          <p:cNvSpPr/>
          <p:nvPr/>
        </p:nvSpPr>
        <p:spPr>
          <a:xfrm>
            <a:off x="4206240" y="1325880"/>
            <a:ext cx="731520" cy="731520"/>
          </a:xfrm>
          <a:prstGeom prst="ellipse">
            <a:avLst/>
          </a:prstGeom>
          <a:solidFill>
            <a:srgbClr val="7C3AED"/>
          </a:solidFill>
          <a:ln w="12700">
            <a:solidFill>
              <a:srgbClr val="7C3AED"/>
            </a:solidFill>
            <a:prstDash val="solid"/>
          </a:ln>
        </p:spPr>
      </p:sp>
      <p:pic>
        <p:nvPicPr>
          <p:cNvPr id="19" name="Search icon" descr="Search"/>
          <p:cNvPicPr>
            <a:picLocks noChangeAspect="1"/>
          </p:cNvPicPr>
          <p:nvPr/>
        </p:nvPicPr>
        <p:blipFill>
          <a:blip r:embed="rId6"/>
          <a:stretch>
            <a:fillRect/>
          </a:stretch>
        </p:blipFill>
        <p:spPr>
          <a:xfrm>
            <a:off x="4389120" y="1508760"/>
            <a:ext cx="365760" cy="365760"/>
          </a:xfrm>
          <a:prstGeom prst="rect">
            <a:avLst/>
          </a:prstGeom>
        </p:spPr>
      </p:pic>
      <p:sp>
        <p:nvSpPr>
          <p:cNvPr id="20" name="Search label"/>
          <p:cNvSpPr txBox="1"/>
          <p:nvPr/>
        </p:nvSpPr>
        <p:spPr>
          <a:xfrm>
            <a:off x="3984171" y="2194560"/>
            <a:ext cx="1175657" cy="320040"/>
          </a:xfrm>
          <a:prstGeom prst="rect">
            <a:avLst/>
          </a:prstGeom>
          <a:noFill/>
          <a:ln/>
        </p:spPr>
        <p:txBody>
          <a:bodyPr wrap="square" lIns="0" tIns="0" rIns="0" bIns="0" rtlCol="0" anchor="ctr"/>
          <a:lstStyle/>
          <a:p>
            <a:pPr marL="0" indent="0" algn="ctr">
              <a:buNone/>
            </a:pPr>
            <a:r>
              <a:rPr lang="en-US" sz="1400" b="1" dirty="0">
                <a:solidFill>
                  <a:schemeClr val="tx2"/>
                </a:solidFill>
              </a:rPr>
              <a:t>Search</a:t>
            </a:r>
            <a:endParaRPr lang="en-US" sz="1400" dirty="0"/>
          </a:p>
        </p:txBody>
      </p:sp>
      <p:sp>
        <p:nvSpPr>
          <p:cNvPr id="21" name="Search detail"/>
          <p:cNvSpPr txBox="1"/>
          <p:nvPr/>
        </p:nvSpPr>
        <p:spPr>
          <a:xfrm>
            <a:off x="4029891" y="2542032"/>
            <a:ext cx="1084217" cy="685800"/>
          </a:xfrm>
          <a:prstGeom prst="rect">
            <a:avLst/>
          </a:prstGeom>
          <a:noFill/>
          <a:ln/>
        </p:spPr>
        <p:txBody>
          <a:bodyPr wrap="square" lIns="0" tIns="0" rIns="0" bIns="0" rtlCol="0" anchor="t"/>
          <a:lstStyle/>
          <a:p>
            <a:pPr marL="0" indent="0" algn="ctr">
              <a:buNone/>
            </a:pPr>
            <a:r>
              <a:rPr lang="en-US" sz="1100" dirty="0">
                <a:solidFill>
                  <a:schemeClr val="tx1"/>
                </a:solidFill>
              </a:rPr>
              <a:t>Every decision recorded</a:t>
            </a:r>
            <a:endParaRPr lang="en-US" sz="1100" dirty="0"/>
          </a:p>
        </p:txBody>
      </p:sp>
      <p:sp>
        <p:nvSpPr>
          <p:cNvPr id="22" name="Arrow 4"/>
          <p:cNvSpPr/>
          <p:nvPr/>
        </p:nvSpPr>
        <p:spPr>
          <a:xfrm>
            <a:off x="4974336" y="1691640"/>
            <a:ext cx="370985" cy="0"/>
          </a:xfrm>
          <a:prstGeom prst="line">
            <a:avLst/>
          </a:prstGeom>
          <a:noFill/>
          <a:ln w="22225">
            <a:solidFill>
              <a:srgbClr val="94A3B8"/>
            </a:solidFill>
            <a:prstDash val="solid"/>
            <a:tailEnd type="triangle"/>
          </a:ln>
        </p:spPr>
      </p:sp>
      <p:sp>
        <p:nvSpPr>
          <p:cNvPr id="23" name="Path circle"/>
          <p:cNvSpPr/>
          <p:nvPr/>
        </p:nvSpPr>
        <p:spPr>
          <a:xfrm>
            <a:off x="5381897" y="1325880"/>
            <a:ext cx="731520" cy="731520"/>
          </a:xfrm>
          <a:prstGeom prst="ellipse">
            <a:avLst/>
          </a:prstGeom>
          <a:solidFill>
            <a:srgbClr val="22C55E"/>
          </a:solidFill>
          <a:ln w="12700">
            <a:solidFill>
              <a:srgbClr val="22C55E"/>
            </a:solidFill>
            <a:prstDash val="solid"/>
          </a:ln>
        </p:spPr>
      </p:sp>
      <p:pic>
        <p:nvPicPr>
          <p:cNvPr id="24" name="Path icon" descr="Path"/>
          <p:cNvPicPr>
            <a:picLocks noChangeAspect="1"/>
          </p:cNvPicPr>
          <p:nvPr/>
        </p:nvPicPr>
        <p:blipFill>
          <a:blip r:embed="rId7"/>
          <a:stretch>
            <a:fillRect/>
          </a:stretch>
        </p:blipFill>
        <p:spPr>
          <a:xfrm>
            <a:off x="5564777" y="1508760"/>
            <a:ext cx="365760" cy="365760"/>
          </a:xfrm>
          <a:prstGeom prst="rect">
            <a:avLst/>
          </a:prstGeom>
        </p:spPr>
      </p:pic>
      <p:sp>
        <p:nvSpPr>
          <p:cNvPr id="25" name="Path label"/>
          <p:cNvSpPr txBox="1"/>
          <p:nvPr/>
        </p:nvSpPr>
        <p:spPr>
          <a:xfrm>
            <a:off x="5159829" y="2194560"/>
            <a:ext cx="1175657" cy="320040"/>
          </a:xfrm>
          <a:prstGeom prst="rect">
            <a:avLst/>
          </a:prstGeom>
          <a:noFill/>
          <a:ln/>
        </p:spPr>
        <p:txBody>
          <a:bodyPr wrap="square" lIns="0" tIns="0" rIns="0" bIns="0" rtlCol="0" anchor="ctr"/>
          <a:lstStyle/>
          <a:p>
            <a:pPr marL="0" indent="0" algn="ctr">
              <a:buNone/>
            </a:pPr>
            <a:r>
              <a:rPr lang="en-US" sz="1400" b="1" dirty="0">
                <a:solidFill>
                  <a:schemeClr val="tx2"/>
                </a:solidFill>
              </a:rPr>
              <a:t>Path</a:t>
            </a:r>
            <a:endParaRPr lang="en-US" sz="1400" dirty="0"/>
          </a:p>
        </p:txBody>
      </p:sp>
      <p:sp>
        <p:nvSpPr>
          <p:cNvPr id="26" name="Path detail"/>
          <p:cNvSpPr txBox="1"/>
          <p:nvPr/>
        </p:nvSpPr>
        <p:spPr>
          <a:xfrm>
            <a:off x="5205549" y="2542032"/>
            <a:ext cx="1084217" cy="685800"/>
          </a:xfrm>
          <a:prstGeom prst="rect">
            <a:avLst/>
          </a:prstGeom>
          <a:noFill/>
          <a:ln/>
        </p:spPr>
        <p:txBody>
          <a:bodyPr wrap="square" lIns="0" tIns="0" rIns="0" bIns="0" rtlCol="0" anchor="t"/>
          <a:lstStyle/>
          <a:p>
            <a:pPr marL="0" indent="0" algn="ctr">
              <a:buNone/>
            </a:pPr>
            <a:r>
              <a:rPr lang="en-US" sz="1100" dirty="0">
                <a:solidFill>
                  <a:schemeClr val="tx1"/>
                </a:solidFill>
              </a:rPr>
              <a:t>Start to Goal</a:t>
            </a:r>
            <a:endParaRPr lang="en-US" sz="1100" dirty="0"/>
          </a:p>
        </p:txBody>
      </p:sp>
      <p:sp>
        <p:nvSpPr>
          <p:cNvPr id="27" name="Arrow 5"/>
          <p:cNvSpPr/>
          <p:nvPr/>
        </p:nvSpPr>
        <p:spPr>
          <a:xfrm>
            <a:off x="6149993" y="1691640"/>
            <a:ext cx="370985" cy="0"/>
          </a:xfrm>
          <a:prstGeom prst="line">
            <a:avLst/>
          </a:prstGeom>
          <a:noFill/>
          <a:ln w="22225">
            <a:solidFill>
              <a:srgbClr val="94A3B8"/>
            </a:solidFill>
            <a:prstDash val="solid"/>
            <a:tailEnd type="triangle"/>
          </a:ln>
        </p:spPr>
      </p:sp>
      <p:sp>
        <p:nvSpPr>
          <p:cNvPr id="28" name="Metrics circle"/>
          <p:cNvSpPr/>
          <p:nvPr/>
        </p:nvSpPr>
        <p:spPr>
          <a:xfrm>
            <a:off x="6557554" y="1325880"/>
            <a:ext cx="731520" cy="731520"/>
          </a:xfrm>
          <a:prstGeom prst="ellipse">
            <a:avLst/>
          </a:prstGeom>
          <a:solidFill>
            <a:srgbClr val="14B8A6"/>
          </a:solidFill>
          <a:ln w="12700">
            <a:solidFill>
              <a:srgbClr val="14B8A6"/>
            </a:solidFill>
            <a:prstDash val="solid"/>
          </a:ln>
        </p:spPr>
      </p:sp>
      <p:pic>
        <p:nvPicPr>
          <p:cNvPr id="29" name="Metrics icon" descr="Metrics"/>
          <p:cNvPicPr>
            <a:picLocks noChangeAspect="1"/>
          </p:cNvPicPr>
          <p:nvPr/>
        </p:nvPicPr>
        <p:blipFill>
          <a:blip r:embed="rId8"/>
          <a:stretch>
            <a:fillRect/>
          </a:stretch>
        </p:blipFill>
        <p:spPr>
          <a:xfrm>
            <a:off x="6740434" y="1508760"/>
            <a:ext cx="365760" cy="365760"/>
          </a:xfrm>
          <a:prstGeom prst="rect">
            <a:avLst/>
          </a:prstGeom>
        </p:spPr>
      </p:pic>
      <p:sp>
        <p:nvSpPr>
          <p:cNvPr id="30" name="Metrics label"/>
          <p:cNvSpPr txBox="1"/>
          <p:nvPr/>
        </p:nvSpPr>
        <p:spPr>
          <a:xfrm>
            <a:off x="6335486" y="2194560"/>
            <a:ext cx="1175657" cy="320040"/>
          </a:xfrm>
          <a:prstGeom prst="rect">
            <a:avLst/>
          </a:prstGeom>
          <a:noFill/>
          <a:ln/>
        </p:spPr>
        <p:txBody>
          <a:bodyPr wrap="square" lIns="0" tIns="0" rIns="0" bIns="0" rtlCol="0" anchor="ctr"/>
          <a:lstStyle/>
          <a:p>
            <a:pPr marL="0" indent="0" algn="ctr">
              <a:buNone/>
            </a:pPr>
            <a:r>
              <a:rPr lang="en-US" sz="1400" b="1" dirty="0">
                <a:solidFill>
                  <a:schemeClr val="tx2"/>
                </a:solidFill>
              </a:rPr>
              <a:t>Metrics</a:t>
            </a:r>
            <a:endParaRPr lang="en-US" sz="1400" dirty="0"/>
          </a:p>
        </p:txBody>
      </p:sp>
      <p:sp>
        <p:nvSpPr>
          <p:cNvPr id="31" name="Metrics detail"/>
          <p:cNvSpPr txBox="1"/>
          <p:nvPr/>
        </p:nvSpPr>
        <p:spPr>
          <a:xfrm>
            <a:off x="6381206" y="2542032"/>
            <a:ext cx="1084217" cy="685800"/>
          </a:xfrm>
          <a:prstGeom prst="rect">
            <a:avLst/>
          </a:prstGeom>
          <a:noFill/>
          <a:ln/>
        </p:spPr>
        <p:txBody>
          <a:bodyPr wrap="square" lIns="0" tIns="0" rIns="0" bIns="0" rtlCol="0" anchor="t"/>
          <a:lstStyle/>
          <a:p>
            <a:pPr marL="0" indent="0" algn="ctr">
              <a:buNone/>
            </a:pPr>
            <a:r>
              <a:rPr lang="en-US" sz="1100" dirty="0">
                <a:solidFill>
                  <a:schemeClr val="tx1"/>
                </a:solidFill>
              </a:rPr>
              <a:t>Length, cells, time, undos</a:t>
            </a:r>
            <a:endParaRPr lang="en-US" sz="1100" dirty="0"/>
          </a:p>
        </p:txBody>
      </p:sp>
      <p:sp>
        <p:nvSpPr>
          <p:cNvPr id="32" name="Arrow 6"/>
          <p:cNvSpPr/>
          <p:nvPr/>
        </p:nvSpPr>
        <p:spPr>
          <a:xfrm>
            <a:off x="7325650" y="1691640"/>
            <a:ext cx="370985" cy="0"/>
          </a:xfrm>
          <a:prstGeom prst="line">
            <a:avLst/>
          </a:prstGeom>
          <a:noFill/>
          <a:ln w="22225">
            <a:solidFill>
              <a:srgbClr val="94A3B8"/>
            </a:solidFill>
            <a:prstDash val="solid"/>
            <a:tailEnd type="triangle"/>
          </a:ln>
        </p:spPr>
      </p:sp>
      <p:sp>
        <p:nvSpPr>
          <p:cNvPr id="33" name="Comparison circle"/>
          <p:cNvSpPr/>
          <p:nvPr/>
        </p:nvSpPr>
        <p:spPr>
          <a:xfrm>
            <a:off x="7733211" y="1325880"/>
            <a:ext cx="731520" cy="731520"/>
          </a:xfrm>
          <a:prstGeom prst="ellipse">
            <a:avLst/>
          </a:prstGeom>
          <a:solidFill>
            <a:srgbClr val="14B8A6"/>
          </a:solidFill>
          <a:ln w="12700">
            <a:solidFill>
              <a:srgbClr val="14B8A6"/>
            </a:solidFill>
            <a:prstDash val="solid"/>
          </a:ln>
        </p:spPr>
      </p:sp>
      <p:pic>
        <p:nvPicPr>
          <p:cNvPr id="34" name="Comparison icon" descr="Comparison"/>
          <p:cNvPicPr>
            <a:picLocks noChangeAspect="1"/>
          </p:cNvPicPr>
          <p:nvPr/>
        </p:nvPicPr>
        <p:blipFill>
          <a:blip r:embed="rId9"/>
          <a:stretch>
            <a:fillRect/>
          </a:stretch>
        </p:blipFill>
        <p:spPr>
          <a:xfrm>
            <a:off x="7916091" y="1508760"/>
            <a:ext cx="365760" cy="365760"/>
          </a:xfrm>
          <a:prstGeom prst="rect">
            <a:avLst/>
          </a:prstGeom>
        </p:spPr>
      </p:pic>
      <p:sp>
        <p:nvSpPr>
          <p:cNvPr id="35" name="Comparison label"/>
          <p:cNvSpPr txBox="1"/>
          <p:nvPr/>
        </p:nvSpPr>
        <p:spPr>
          <a:xfrm>
            <a:off x="7511143" y="2194560"/>
            <a:ext cx="1175657" cy="320040"/>
          </a:xfrm>
          <a:prstGeom prst="rect">
            <a:avLst/>
          </a:prstGeom>
          <a:noFill/>
          <a:ln/>
        </p:spPr>
        <p:txBody>
          <a:bodyPr wrap="square" lIns="0" tIns="0" rIns="0" bIns="0" rtlCol="0" anchor="ctr"/>
          <a:lstStyle/>
          <a:p>
            <a:pPr marL="0" indent="0" algn="ctr">
              <a:buNone/>
            </a:pPr>
            <a:r>
              <a:rPr lang="en-US" sz="1400" b="1" dirty="0">
                <a:solidFill>
                  <a:schemeClr val="tx2"/>
                </a:solidFill>
              </a:rPr>
              <a:t>Comparison</a:t>
            </a:r>
            <a:endParaRPr lang="en-US" sz="1400" dirty="0"/>
          </a:p>
        </p:txBody>
      </p:sp>
      <p:sp>
        <p:nvSpPr>
          <p:cNvPr id="36" name="Comparison detail"/>
          <p:cNvSpPr txBox="1"/>
          <p:nvPr/>
        </p:nvSpPr>
        <p:spPr>
          <a:xfrm>
            <a:off x="7556863" y="2542032"/>
            <a:ext cx="1084217" cy="685800"/>
          </a:xfrm>
          <a:prstGeom prst="rect">
            <a:avLst/>
          </a:prstGeom>
          <a:noFill/>
          <a:ln/>
        </p:spPr>
        <p:txBody>
          <a:bodyPr wrap="square" lIns="0" tIns="0" rIns="0" bIns="0" rtlCol="0" anchor="t"/>
          <a:lstStyle/>
          <a:p>
            <a:pPr marL="0" indent="0" algn="ctr">
              <a:buNone/>
            </a:pPr>
            <a:r>
              <a:rPr lang="en-US" sz="1100" dirty="0">
                <a:solidFill>
                  <a:schemeClr val="tx1"/>
                </a:solidFill>
              </a:rPr>
              <a:t>Table and charts</a:t>
            </a:r>
            <a:endParaRPr lang="en-US" sz="1100" dirty="0"/>
          </a:p>
        </p:txBody>
      </p:sp>
      <p:sp>
        <p:nvSpPr>
          <p:cNvPr id="37" name="Callout band"/>
          <p:cNvSpPr/>
          <p:nvPr/>
        </p:nvSpPr>
        <p:spPr>
          <a:xfrm>
            <a:off x="457200" y="3520440"/>
            <a:ext cx="8229600" cy="914400"/>
          </a:xfrm>
          <a:prstGeom prst="roundRect">
            <a:avLst>
              <a:gd name="adj" fmla="val 12000"/>
            </a:avLst>
          </a:prstGeom>
          <a:solidFill>
            <a:schemeClr val="bg2"/>
          </a:solidFill>
          <a:ln w="12700">
            <a:solidFill>
              <a:schemeClr val="bg2"/>
            </a:solidFill>
            <a:prstDash val="solid"/>
          </a:ln>
        </p:spPr>
      </p:sp>
      <p:pic>
        <p:nvPicPr>
          <p:cNvPr id="38" name="Replay icon" descr="Replay icon"/>
          <p:cNvPicPr>
            <a:picLocks noChangeAspect="1"/>
          </p:cNvPicPr>
          <p:nvPr/>
        </p:nvPicPr>
        <p:blipFill>
          <a:blip r:embed="rId10"/>
          <a:stretch>
            <a:fillRect/>
          </a:stretch>
        </p:blipFill>
        <p:spPr>
          <a:xfrm>
            <a:off x="731520" y="3794760"/>
            <a:ext cx="365760" cy="365760"/>
          </a:xfrm>
          <a:prstGeom prst="rect">
            <a:avLst/>
          </a:prstGeom>
        </p:spPr>
      </p:pic>
      <p:sp>
        <p:nvSpPr>
          <p:cNvPr id="39" name="Callout text"/>
          <p:cNvSpPr txBox="1"/>
          <p:nvPr/>
        </p:nvSpPr>
        <p:spPr>
          <a:xfrm>
            <a:off x="1325880" y="3520440"/>
            <a:ext cx="7132320" cy="914400"/>
          </a:xfrm>
          <a:prstGeom prst="rect">
            <a:avLst/>
          </a:prstGeom>
          <a:noFill/>
          <a:ln/>
        </p:spPr>
        <p:txBody>
          <a:bodyPr wrap="square" lIns="0" tIns="0" rIns="0" bIns="0" rtlCol="0" anchor="ctr"/>
          <a:lstStyle/>
          <a:p>
            <a:pPr marL="0" indent="0">
              <a:buNone/>
            </a:pPr>
            <a:r>
              <a:rPr lang="en-US" sz="1800" b="1" dirty="0">
                <a:solidFill>
                  <a:schemeClr val="tx2"/>
                </a:solidFill>
              </a:rPr>
              <a:t>Every decision is recorded as an event, then replayed step by step</a:t>
            </a:r>
            <a:endParaRPr lang="en-US" sz="1800" dirty="0"/>
          </a:p>
        </p:txBody>
      </p:sp>
      <p:sp>
        <p:nvSpPr>
          <p:cNvPr id="40"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Technology &amp; Algorithms</a:t>
            </a:r>
            <a:endParaRPr lang="en-US" sz="3400" dirty="0"/>
          </a:p>
        </p:txBody>
      </p:sp>
      <p:sp>
        <p:nvSpPr>
          <p:cNvPr id="3" name="Technology heading"/>
          <p:cNvSpPr txBox="1"/>
          <p:nvPr/>
        </p:nvSpPr>
        <p:spPr>
          <a:xfrm>
            <a:off x="457200" y="1188720"/>
            <a:ext cx="3017520" cy="365760"/>
          </a:xfrm>
          <a:prstGeom prst="rect">
            <a:avLst/>
          </a:prstGeom>
          <a:noFill/>
          <a:ln/>
        </p:spPr>
        <p:txBody>
          <a:bodyPr wrap="square" lIns="0" tIns="0" rIns="0" bIns="0" rtlCol="0" anchor="ctr"/>
          <a:lstStyle/>
          <a:p>
            <a:pPr marL="0" indent="0">
              <a:buNone/>
            </a:pPr>
            <a:r>
              <a:rPr lang="en-US" sz="2000" b="1" dirty="0">
                <a:solidFill>
                  <a:schemeClr val="accent1"/>
                </a:solidFill>
              </a:rPr>
              <a:t>Technology</a:t>
            </a:r>
            <a:endParaRPr lang="en-US" sz="2000" dirty="0"/>
          </a:p>
        </p:txBody>
      </p:sp>
      <p:sp>
        <p:nvSpPr>
          <p:cNvPr id="4" name="Python circle"/>
          <p:cNvSpPr/>
          <p:nvPr/>
        </p:nvSpPr>
        <p:spPr>
          <a:xfrm>
            <a:off x="457200" y="1691640"/>
            <a:ext cx="640080" cy="640080"/>
          </a:xfrm>
          <a:prstGeom prst="ellipse">
            <a:avLst/>
          </a:prstGeom>
          <a:solidFill>
            <a:srgbClr val="2563EB"/>
          </a:solidFill>
          <a:ln w="12700">
            <a:solidFill>
              <a:srgbClr val="2563EB"/>
            </a:solidFill>
            <a:prstDash val="solid"/>
          </a:ln>
        </p:spPr>
      </p:sp>
      <p:pic>
        <p:nvPicPr>
          <p:cNvPr id="5" name="Python icon" descr="Python"/>
          <p:cNvPicPr>
            <a:picLocks noChangeAspect="1"/>
          </p:cNvPicPr>
          <p:nvPr/>
        </p:nvPicPr>
        <p:blipFill>
          <a:blip r:embed="rId3"/>
          <a:stretch>
            <a:fillRect/>
          </a:stretch>
        </p:blipFill>
        <p:spPr>
          <a:xfrm>
            <a:off x="617220" y="1851660"/>
            <a:ext cx="320040" cy="320040"/>
          </a:xfrm>
          <a:prstGeom prst="rect">
            <a:avLst/>
          </a:prstGeom>
        </p:spPr>
      </p:pic>
      <p:sp>
        <p:nvSpPr>
          <p:cNvPr id="6" name="Python name"/>
          <p:cNvSpPr txBox="1"/>
          <p:nvPr/>
        </p:nvSpPr>
        <p:spPr>
          <a:xfrm>
            <a:off x="1280160" y="1691640"/>
            <a:ext cx="2286000" cy="320040"/>
          </a:xfrm>
          <a:prstGeom prst="rect">
            <a:avLst/>
          </a:prstGeom>
          <a:noFill/>
          <a:ln/>
        </p:spPr>
        <p:txBody>
          <a:bodyPr wrap="square" lIns="0" tIns="0" rIns="0" bIns="0" rtlCol="0" anchor="ctr"/>
          <a:lstStyle/>
          <a:p>
            <a:pPr marL="0" indent="0">
              <a:buNone/>
            </a:pPr>
            <a:r>
              <a:rPr lang="en-US" sz="1600" b="1" dirty="0">
                <a:solidFill>
                  <a:schemeClr val="tx2"/>
                </a:solidFill>
              </a:rPr>
              <a:t>Python</a:t>
            </a:r>
            <a:endParaRPr lang="en-US" sz="1600" dirty="0"/>
          </a:p>
        </p:txBody>
      </p:sp>
      <p:sp>
        <p:nvSpPr>
          <p:cNvPr id="7" name="Python reason"/>
          <p:cNvSpPr txBox="1"/>
          <p:nvPr/>
        </p:nvSpPr>
        <p:spPr>
          <a:xfrm>
            <a:off x="1280160" y="2011680"/>
            <a:ext cx="2286000" cy="320040"/>
          </a:xfrm>
          <a:prstGeom prst="rect">
            <a:avLst/>
          </a:prstGeom>
          <a:noFill/>
          <a:ln/>
        </p:spPr>
        <p:txBody>
          <a:bodyPr wrap="square" lIns="0" tIns="0" rIns="0" bIns="0" rtlCol="0" anchor="t"/>
          <a:lstStyle/>
          <a:p>
            <a:pPr marL="0" indent="0">
              <a:buNone/>
            </a:pPr>
            <a:r>
              <a:rPr lang="en-US" sz="1400" dirty="0">
                <a:solidFill>
                  <a:schemeClr val="tx1"/>
                </a:solidFill>
              </a:rPr>
              <a:t>Readable, great for algorithms</a:t>
            </a:r>
            <a:endParaRPr lang="en-US" sz="1400" dirty="0"/>
          </a:p>
        </p:txBody>
      </p:sp>
      <p:sp>
        <p:nvSpPr>
          <p:cNvPr id="8" name="Streamlit circle"/>
          <p:cNvSpPr/>
          <p:nvPr/>
        </p:nvSpPr>
        <p:spPr>
          <a:xfrm>
            <a:off x="457200" y="2651760"/>
            <a:ext cx="640080" cy="640080"/>
          </a:xfrm>
          <a:prstGeom prst="ellipse">
            <a:avLst/>
          </a:prstGeom>
          <a:solidFill>
            <a:srgbClr val="EF4444"/>
          </a:solidFill>
          <a:ln w="12700">
            <a:solidFill>
              <a:srgbClr val="EF4444"/>
            </a:solidFill>
            <a:prstDash val="solid"/>
          </a:ln>
        </p:spPr>
      </p:sp>
      <p:pic>
        <p:nvPicPr>
          <p:cNvPr id="9" name="Streamlit icon" descr="Streamlit"/>
          <p:cNvPicPr>
            <a:picLocks noChangeAspect="1"/>
          </p:cNvPicPr>
          <p:nvPr/>
        </p:nvPicPr>
        <p:blipFill>
          <a:blip r:embed="rId4"/>
          <a:stretch>
            <a:fillRect/>
          </a:stretch>
        </p:blipFill>
        <p:spPr>
          <a:xfrm>
            <a:off x="617220" y="2811780"/>
            <a:ext cx="320040" cy="320040"/>
          </a:xfrm>
          <a:prstGeom prst="rect">
            <a:avLst/>
          </a:prstGeom>
        </p:spPr>
      </p:pic>
      <p:sp>
        <p:nvSpPr>
          <p:cNvPr id="10" name="Streamlit name"/>
          <p:cNvSpPr txBox="1"/>
          <p:nvPr/>
        </p:nvSpPr>
        <p:spPr>
          <a:xfrm>
            <a:off x="1280160" y="2651760"/>
            <a:ext cx="2286000" cy="320040"/>
          </a:xfrm>
          <a:prstGeom prst="rect">
            <a:avLst/>
          </a:prstGeom>
          <a:noFill/>
          <a:ln/>
        </p:spPr>
        <p:txBody>
          <a:bodyPr wrap="square" lIns="0" tIns="0" rIns="0" bIns="0" rtlCol="0" anchor="ctr"/>
          <a:lstStyle/>
          <a:p>
            <a:pPr marL="0" indent="0">
              <a:buNone/>
            </a:pPr>
            <a:r>
              <a:rPr lang="en-US" sz="1600" b="1" dirty="0">
                <a:solidFill>
                  <a:schemeClr val="tx2"/>
                </a:solidFill>
              </a:rPr>
              <a:t>Streamlit</a:t>
            </a:r>
            <a:endParaRPr lang="en-US" sz="1600" dirty="0"/>
          </a:p>
        </p:txBody>
      </p:sp>
      <p:sp>
        <p:nvSpPr>
          <p:cNvPr id="11" name="Streamlit reason"/>
          <p:cNvSpPr txBox="1"/>
          <p:nvPr/>
        </p:nvSpPr>
        <p:spPr>
          <a:xfrm>
            <a:off x="1280160" y="2971800"/>
            <a:ext cx="2286000" cy="320040"/>
          </a:xfrm>
          <a:prstGeom prst="rect">
            <a:avLst/>
          </a:prstGeom>
          <a:noFill/>
          <a:ln/>
        </p:spPr>
        <p:txBody>
          <a:bodyPr wrap="square" lIns="0" tIns="0" rIns="0" bIns="0" rtlCol="0" anchor="t"/>
          <a:lstStyle/>
          <a:p>
            <a:pPr marL="0" indent="0">
              <a:buNone/>
            </a:pPr>
            <a:r>
              <a:rPr lang="en-US" sz="1400" dirty="0">
                <a:solidFill>
                  <a:schemeClr val="tx1"/>
                </a:solidFill>
              </a:rPr>
              <a:t>Web UI in pure Python</a:t>
            </a:r>
            <a:endParaRPr lang="en-US" sz="1400" dirty="0"/>
          </a:p>
        </p:txBody>
      </p:sp>
      <p:sp>
        <p:nvSpPr>
          <p:cNvPr id="12" name="Matplotlib circle"/>
          <p:cNvSpPr/>
          <p:nvPr/>
        </p:nvSpPr>
        <p:spPr>
          <a:xfrm>
            <a:off x="457200" y="3611880"/>
            <a:ext cx="640080" cy="640080"/>
          </a:xfrm>
          <a:prstGeom prst="ellipse">
            <a:avLst/>
          </a:prstGeom>
          <a:solidFill>
            <a:srgbClr val="14B8A6"/>
          </a:solidFill>
          <a:ln w="12700">
            <a:solidFill>
              <a:srgbClr val="14B8A6"/>
            </a:solidFill>
            <a:prstDash val="solid"/>
          </a:ln>
        </p:spPr>
      </p:sp>
      <p:pic>
        <p:nvPicPr>
          <p:cNvPr id="13" name="Matplotlib icon" descr="Matplotlib"/>
          <p:cNvPicPr>
            <a:picLocks noChangeAspect="1"/>
          </p:cNvPicPr>
          <p:nvPr/>
        </p:nvPicPr>
        <p:blipFill>
          <a:blip r:embed="rId5"/>
          <a:stretch>
            <a:fillRect/>
          </a:stretch>
        </p:blipFill>
        <p:spPr>
          <a:xfrm>
            <a:off x="617220" y="3771900"/>
            <a:ext cx="320040" cy="320040"/>
          </a:xfrm>
          <a:prstGeom prst="rect">
            <a:avLst/>
          </a:prstGeom>
        </p:spPr>
      </p:pic>
      <p:sp>
        <p:nvSpPr>
          <p:cNvPr id="14" name="Matplotlib name"/>
          <p:cNvSpPr txBox="1"/>
          <p:nvPr/>
        </p:nvSpPr>
        <p:spPr>
          <a:xfrm>
            <a:off x="1280160" y="3611880"/>
            <a:ext cx="2286000" cy="320040"/>
          </a:xfrm>
          <a:prstGeom prst="rect">
            <a:avLst/>
          </a:prstGeom>
          <a:noFill/>
          <a:ln/>
        </p:spPr>
        <p:txBody>
          <a:bodyPr wrap="square" lIns="0" tIns="0" rIns="0" bIns="0" rtlCol="0" anchor="ctr"/>
          <a:lstStyle/>
          <a:p>
            <a:pPr marL="0" indent="0">
              <a:buNone/>
            </a:pPr>
            <a:r>
              <a:rPr lang="en-US" sz="1600" b="1" dirty="0">
                <a:solidFill>
                  <a:schemeClr val="tx2"/>
                </a:solidFill>
              </a:rPr>
              <a:t>Matplotlib</a:t>
            </a:r>
            <a:endParaRPr lang="en-US" sz="1600" dirty="0"/>
          </a:p>
        </p:txBody>
      </p:sp>
      <p:sp>
        <p:nvSpPr>
          <p:cNvPr id="15" name="Matplotlib reason"/>
          <p:cNvSpPr txBox="1"/>
          <p:nvPr/>
        </p:nvSpPr>
        <p:spPr>
          <a:xfrm>
            <a:off x="1280160" y="3931920"/>
            <a:ext cx="2286000" cy="320040"/>
          </a:xfrm>
          <a:prstGeom prst="rect">
            <a:avLst/>
          </a:prstGeom>
          <a:noFill/>
          <a:ln/>
        </p:spPr>
        <p:txBody>
          <a:bodyPr wrap="square" lIns="0" tIns="0" rIns="0" bIns="0" rtlCol="0" anchor="t"/>
          <a:lstStyle/>
          <a:p>
            <a:pPr marL="0" indent="0">
              <a:buNone/>
            </a:pPr>
            <a:r>
              <a:rPr lang="en-US" sz="1400" dirty="0">
                <a:solidFill>
                  <a:schemeClr val="tx1"/>
                </a:solidFill>
              </a:rPr>
              <a:t>Maze drawing and charts</a:t>
            </a:r>
            <a:endParaRPr lang="en-US" sz="1400" dirty="0"/>
          </a:p>
        </p:txBody>
      </p:sp>
      <p:sp>
        <p:nvSpPr>
          <p:cNvPr id="16" name="Algorithms heading"/>
          <p:cNvSpPr txBox="1"/>
          <p:nvPr/>
        </p:nvSpPr>
        <p:spPr>
          <a:xfrm>
            <a:off x="3931920" y="1188720"/>
            <a:ext cx="4754880" cy="365760"/>
          </a:xfrm>
          <a:prstGeom prst="rect">
            <a:avLst/>
          </a:prstGeom>
          <a:noFill/>
          <a:ln/>
        </p:spPr>
        <p:txBody>
          <a:bodyPr wrap="square" lIns="0" tIns="0" rIns="0" bIns="0" rtlCol="0" anchor="ctr"/>
          <a:lstStyle/>
          <a:p>
            <a:pPr marL="0" indent="0">
              <a:buNone/>
            </a:pPr>
            <a:r>
              <a:rPr lang="en-US" sz="2000" b="1" dirty="0">
                <a:solidFill>
                  <a:schemeClr val="accent1"/>
                </a:solidFill>
              </a:rPr>
              <a:t>Algorithms</a:t>
            </a:r>
            <a:endParaRPr lang="en-US" sz="2000" dirty="0"/>
          </a:p>
        </p:txBody>
      </p:sp>
      <p:graphicFrame>
        <p:nvGraphicFramePr>
          <p:cNvPr id="17" name="Algorithm table"/>
          <p:cNvGraphicFramePr>
            <a:graphicFrameLocks noGrp="1"/>
          </p:cNvGraphicFramePr>
          <p:nvPr>
            <p:extLst>
              <p:ext uri="{D42A27DB-BD31-4B8C-83A1-F6EECF244321}">
                <p14:modId xmlns:p14="http://schemas.microsoft.com/office/powerpoint/2010/main" val="1579011935"/>
              </p:ext>
            </p:extLst>
          </p:nvPr>
        </p:nvGraphicFramePr>
        <p:xfrm>
          <a:off x="3931920" y="1691640"/>
          <a:ext cx="4754880" cy="2066544"/>
        </p:xfrm>
        <a:graphic>
          <a:graphicData uri="http://schemas.openxmlformats.org/drawingml/2006/table">
            <a:tbl>
              <a:tblPr/>
              <a:tblGrid>
                <a:gridCol w="12344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65760">
                <a:tc>
                  <a:txBody>
                    <a:bodyPr/>
                    <a:lstStyle/>
                    <a:p>
                      <a:pPr marL="0" indent="0">
                        <a:buNone/>
                      </a:pPr>
                      <a:r>
                        <a:rPr lang="en-US" sz="1200" b="1" dirty="0">
                          <a:solidFill>
                            <a:schemeClr val="bg1"/>
                          </a:solidFill>
                        </a:rPr>
                        <a:t>Algorithm</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Why chosen</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Structure</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Time</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chemeClr val="tx1"/>
                          </a:solidFill>
                        </a:rPr>
                        <a:t>BFS</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chemeClr val="tx1"/>
                          </a:solidFill>
                        </a:rPr>
                        <a:t>Shortest-path guarantee</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chemeClr val="tx1"/>
                          </a:solidFill>
                        </a:rPr>
                        <a:t>Queue</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chemeClr val="tx1"/>
                          </a:solidFill>
                        </a:rPr>
                        <a:t>O(R×C)</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200" b="1" dirty="0">
                          <a:solidFill>
                            <a:schemeClr val="tx1"/>
                          </a:solidFill>
                        </a:rPr>
                        <a:t>DFS</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chemeClr val="tx1"/>
                          </a:solidFill>
                        </a:rPr>
                        <a:t>Deep exploration</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chemeClr val="tx1"/>
                          </a:solidFill>
                        </a:rPr>
                        <a:t>Stack</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chemeClr val="tx1"/>
                          </a:solidFill>
                        </a:rPr>
                        <a:t>O(R×C)</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200" b="1" dirty="0">
                          <a:solidFill>
                            <a:schemeClr val="tx1"/>
                          </a:solidFill>
                        </a:rPr>
                        <a:t>Backtracking</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chemeClr val="tx1"/>
                          </a:solidFill>
                        </a:rPr>
                        <a:t>Choose, explore, undo</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chemeClr val="tx1"/>
                          </a:solidFill>
                        </a:rPr>
                        <a:t>Recursion</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chemeClr val="tx1"/>
                          </a:solidFill>
                        </a:rPr>
                        <a:t>O(R×C)</a:t>
                      </a:r>
                      <a:endParaRPr lang="en-US" sz="12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8" name="Table note"/>
          <p:cNvSpPr txBox="1"/>
          <p:nvPr/>
        </p:nvSpPr>
        <p:spPr>
          <a:xfrm>
            <a:off x="3931920" y="3886200"/>
            <a:ext cx="4754880" cy="502920"/>
          </a:xfrm>
          <a:prstGeom prst="rect">
            <a:avLst/>
          </a:prstGeom>
          <a:noFill/>
          <a:ln/>
        </p:spPr>
        <p:txBody>
          <a:bodyPr wrap="square" lIns="0" tIns="0" rIns="0" bIns="0" rtlCol="0" anchor="t"/>
          <a:lstStyle/>
          <a:p>
            <a:pPr marL="0" indent="0">
              <a:buNone/>
            </a:pPr>
            <a:r>
              <a:rPr lang="en-US" sz="1100" i="1" dirty="0">
                <a:solidFill>
                  <a:srgbClr val="475569"/>
                </a:solidFill>
              </a:rPr>
              <a:t>R×C = rows × columns. Backtracking marks tried cells, so its time stays linear.</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Demo &amp; Impact</a:t>
            </a:r>
            <a:endParaRPr lang="en-US" sz="3400" dirty="0"/>
          </a:p>
        </p:txBody>
      </p:sp>
      <p:graphicFrame>
        <p:nvGraphicFramePr>
          <p:cNvPr id="3" name="Results chart"/>
          <p:cNvGraphicFramePr/>
          <p:nvPr/>
        </p:nvGraphicFramePr>
        <p:xfrm>
          <a:off x="457200" y="1143000"/>
          <a:ext cx="411480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Results table"/>
          <p:cNvGraphicFramePr>
            <a:graphicFrameLocks noGrp="1"/>
          </p:cNvGraphicFramePr>
          <p:nvPr>
            <p:extLst>
              <p:ext uri="{D42A27DB-BD31-4B8C-83A1-F6EECF244321}">
                <p14:modId xmlns:p14="http://schemas.microsoft.com/office/powerpoint/2010/main" val="3877574984"/>
              </p:ext>
            </p:extLst>
          </p:nvPr>
        </p:nvGraphicFramePr>
        <p:xfrm>
          <a:off x="6289429" y="454269"/>
          <a:ext cx="1752602" cy="2132272"/>
        </p:xfrm>
        <a:graphic>
          <a:graphicData uri="http://schemas.openxmlformats.org/drawingml/2006/table">
            <a:tbl>
              <a:tblPr/>
              <a:tblGrid>
                <a:gridCol w="521608">
                  <a:extLst>
                    <a:ext uri="{9D8B030D-6E8A-4147-A177-3AD203B41FA5}">
                      <a16:colId xmlns:a16="http://schemas.microsoft.com/office/drawing/2014/main" val="20000"/>
                    </a:ext>
                  </a:extLst>
                </a:gridCol>
                <a:gridCol w="250372">
                  <a:extLst>
                    <a:ext uri="{9D8B030D-6E8A-4147-A177-3AD203B41FA5}">
                      <a16:colId xmlns:a16="http://schemas.microsoft.com/office/drawing/2014/main" val="20001"/>
                    </a:ext>
                  </a:extLst>
                </a:gridCol>
                <a:gridCol w="333829">
                  <a:extLst>
                    <a:ext uri="{9D8B030D-6E8A-4147-A177-3AD203B41FA5}">
                      <a16:colId xmlns:a16="http://schemas.microsoft.com/office/drawing/2014/main" val="20002"/>
                    </a:ext>
                  </a:extLst>
                </a:gridCol>
                <a:gridCol w="271236">
                  <a:extLst>
                    <a:ext uri="{9D8B030D-6E8A-4147-A177-3AD203B41FA5}">
                      <a16:colId xmlns:a16="http://schemas.microsoft.com/office/drawing/2014/main" val="20003"/>
                    </a:ext>
                  </a:extLst>
                </a:gridCol>
                <a:gridCol w="375557">
                  <a:extLst>
                    <a:ext uri="{9D8B030D-6E8A-4147-A177-3AD203B41FA5}">
                      <a16:colId xmlns:a16="http://schemas.microsoft.com/office/drawing/2014/main" val="20004"/>
                    </a:ext>
                  </a:extLst>
                </a:gridCol>
              </a:tblGrid>
              <a:tr h="386390">
                <a:tc>
                  <a:txBody>
                    <a:bodyPr/>
                    <a:lstStyle/>
                    <a:p>
                      <a:pPr marL="0" indent="0">
                        <a:buNone/>
                      </a:pPr>
                      <a:r>
                        <a:rPr lang="en-US" sz="1100" b="1" dirty="0">
                          <a:solidFill>
                            <a:schemeClr val="bg1"/>
                          </a:solidFill>
                        </a:rPr>
                        <a:t>Algorithm</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Path</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Visited</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Undos</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Time</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8920">
                <a:tc>
                  <a:txBody>
                    <a:bodyPr/>
                    <a:lstStyle/>
                    <a:p>
                      <a:pPr marL="0" indent="0">
                        <a:buNone/>
                      </a:pPr>
                      <a:r>
                        <a:rPr lang="en-US" sz="1100" b="1" dirty="0">
                          <a:solidFill>
                            <a:schemeClr val="tx1"/>
                          </a:solidFill>
                        </a:rPr>
                        <a:t>BFS</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100" dirty="0">
                          <a:solidFill>
                            <a:schemeClr val="tx1"/>
                          </a:solidFill>
                        </a:rPr>
                        <a:t>64</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100" dirty="0">
                          <a:solidFill>
                            <a:schemeClr val="tx1"/>
                          </a:solidFill>
                        </a:rPr>
                        <a:t>n/a</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100" dirty="0">
                          <a:solidFill>
                            <a:schemeClr val="tx1"/>
                          </a:solidFill>
                        </a:rPr>
                        <a:t>[INSERT]</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458920">
                <a:tc>
                  <a:txBody>
                    <a:bodyPr/>
                    <a:lstStyle/>
                    <a:p>
                      <a:pPr marL="0" indent="0">
                        <a:buNone/>
                      </a:pPr>
                      <a:r>
                        <a:rPr lang="en-US" sz="1100" b="1" dirty="0">
                          <a:solidFill>
                            <a:schemeClr val="tx1"/>
                          </a:solidFill>
                        </a:rPr>
                        <a:t>DFS</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100" dirty="0">
                          <a:solidFill>
                            <a:schemeClr val="tx1"/>
                          </a:solidFill>
                        </a:rPr>
                        <a:t>108</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100" dirty="0">
                          <a:solidFill>
                            <a:schemeClr val="tx1"/>
                          </a:solidFill>
                        </a:rPr>
                        <a:t>131</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100" dirty="0">
                          <a:solidFill>
                            <a:schemeClr val="tx1"/>
                          </a:solidFill>
                        </a:rPr>
                        <a:t>n/a</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100" dirty="0">
                          <a:solidFill>
                            <a:schemeClr val="tx1"/>
                          </a:solidFill>
                        </a:rPr>
                        <a:t>[INSERT]</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458920">
                <a:tc>
                  <a:txBody>
                    <a:bodyPr/>
                    <a:lstStyle/>
                    <a:p>
                      <a:pPr marL="0" indent="0">
                        <a:buNone/>
                      </a:pPr>
                      <a:r>
                        <a:rPr lang="en-US" sz="1100" b="1" dirty="0">
                          <a:solidFill>
                            <a:schemeClr val="tx1"/>
                          </a:solidFill>
                        </a:rPr>
                        <a:t>Backtracking</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100" dirty="0">
                          <a:solidFill>
                            <a:schemeClr val="tx1"/>
                          </a:solidFill>
                        </a:rPr>
                        <a:t>108</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100" dirty="0">
                          <a:solidFill>
                            <a:schemeClr val="tx1"/>
                          </a:solidFill>
                        </a:rPr>
                        <a:t>131</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100" dirty="0">
                          <a:solidFill>
                            <a:schemeClr val="tx1"/>
                          </a:solidFill>
                        </a:rPr>
                        <a:t>22</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100" dirty="0">
                          <a:solidFill>
                            <a:schemeClr val="tx1"/>
                          </a:solidFill>
                        </a:rPr>
                        <a:t>[INSERT]</a:t>
                      </a:r>
                      <a:endParaRPr lang="en-US" sz="1100" dirty="0"/>
                    </a:p>
                  </a:txBody>
                  <a:tcPr marL="54864" marR="54864"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Benefits heading"/>
          <p:cNvSpPr txBox="1"/>
          <p:nvPr/>
        </p:nvSpPr>
        <p:spPr>
          <a:xfrm>
            <a:off x="4846320" y="2926080"/>
            <a:ext cx="3840480" cy="365760"/>
          </a:xfrm>
          <a:prstGeom prst="rect">
            <a:avLst/>
          </a:prstGeom>
          <a:noFill/>
          <a:ln/>
        </p:spPr>
        <p:txBody>
          <a:bodyPr wrap="square" lIns="0" tIns="0" rIns="0" bIns="0" rtlCol="0" anchor="ctr"/>
          <a:lstStyle/>
          <a:p>
            <a:pPr marL="0" indent="0">
              <a:buNone/>
            </a:pPr>
            <a:r>
              <a:rPr lang="en-US" sz="1800" b="1" dirty="0">
                <a:solidFill>
                  <a:schemeClr val="accent1"/>
                </a:solidFill>
              </a:rPr>
              <a:t>Practical benefits</a:t>
            </a:r>
            <a:endParaRPr lang="en-US" sz="1800" dirty="0"/>
          </a:p>
        </p:txBody>
      </p:sp>
      <p:sp>
        <p:nvSpPr>
          <p:cNvPr id="6" name="Benefits list"/>
          <p:cNvSpPr txBox="1"/>
          <p:nvPr/>
        </p:nvSpPr>
        <p:spPr>
          <a:xfrm>
            <a:off x="4846320" y="3337560"/>
            <a:ext cx="3840480" cy="9601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Easier learning of algorithms</a:t>
            </a:r>
            <a:endParaRPr lang="en-US" sz="1400" dirty="0"/>
          </a:p>
          <a:p>
            <a:pPr marL="342900" indent="-342900">
              <a:spcAft>
                <a:spcPts val="300"/>
              </a:spcAft>
              <a:buSzPct val="100000"/>
              <a:buChar char="•"/>
            </a:pPr>
            <a:r>
              <a:rPr lang="en-US" sz="1400" dirty="0">
                <a:solidFill>
                  <a:schemeClr val="tx1"/>
                </a:solidFill>
              </a:rPr>
              <a:t>Instant side-by-side comparison</a:t>
            </a:r>
            <a:endParaRPr lang="en-US" sz="1400" dirty="0"/>
          </a:p>
          <a:p>
            <a:pPr marL="342900" indent="-342900">
              <a:spcAft>
                <a:spcPts val="300"/>
              </a:spcAft>
              <a:buSzPct val="100000"/>
              <a:buChar char="•"/>
            </a:pPr>
            <a:r>
              <a:rPr lang="en-US" sz="1400" dirty="0">
                <a:solidFill>
                  <a:schemeClr val="tx1"/>
                </a:solidFill>
              </a:rPr>
              <a:t>Ready for classroom use</a:t>
            </a:r>
            <a:endParaRPr lang="en-US" sz="1400" dirty="0"/>
          </a:p>
        </p:txBody>
      </p:sp>
      <p:sp>
        <p:nvSpPr>
          <p:cNvPr id="4" name="Source note"/>
          <p:cNvSpPr txBox="1"/>
          <p:nvPr/>
        </p:nvSpPr>
        <p:spPr>
          <a:xfrm>
            <a:off x="457200" y="4389120"/>
            <a:ext cx="7680960" cy="274320"/>
          </a:xfrm>
          <a:prstGeom prst="rect">
            <a:avLst/>
          </a:prstGeom>
          <a:noFill/>
          <a:ln/>
        </p:spPr>
        <p:txBody>
          <a:bodyPr wrap="square" lIns="0" tIns="0" rIns="0" bIns="0" rtlCol="0" anchor="ctr"/>
          <a:lstStyle/>
          <a:p>
            <a:pPr marL="0" indent="0">
              <a:buNone/>
            </a:pP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l"/>
            <a:fld id="{F7021451-1387-4CA6-816F-3879F97B5CBC}" type="slidenum">
              <a:rPr lang="en-US" b="0"/>
              <a:t>6</a:t>
            </a:fld>
            <a:endParaRPr lang="en-US"/>
          </a:p>
        </p:txBody>
      </p:sp>
      <p:pic>
        <p:nvPicPr>
          <p:cNvPr id="9" name="Picture 8">
            <a:extLst>
              <a:ext uri="{FF2B5EF4-FFF2-40B4-BE49-F238E27FC236}">
                <a16:creationId xmlns:a16="http://schemas.microsoft.com/office/drawing/2014/main" id="{B945B485-BC8F-4629-21AF-79B7525CAEDD}"/>
              </a:ext>
            </a:extLst>
          </p:cNvPr>
          <p:cNvPicPr>
            <a:picLocks noChangeAspect="1"/>
          </p:cNvPicPr>
          <p:nvPr/>
        </p:nvPicPr>
        <p:blipFill>
          <a:blip r:embed="rId4"/>
          <a:stretch>
            <a:fillRect/>
          </a:stretch>
        </p:blipFill>
        <p:spPr>
          <a:xfrm>
            <a:off x="4664319" y="274320"/>
            <a:ext cx="4309696" cy="23282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bg1"/>
                </a:solidFill>
              </a:rPr>
              <a:t>Future Vision</a:t>
            </a:r>
            <a:endParaRPr lang="en-US" sz="3400" dirty="0"/>
          </a:p>
        </p:txBody>
      </p:sp>
      <p:sp>
        <p:nvSpPr>
          <p:cNvPr id="3" name="Achieved card"/>
          <p:cNvSpPr/>
          <p:nvPr/>
        </p:nvSpPr>
        <p:spPr>
          <a:xfrm>
            <a:off x="457200" y="1188720"/>
            <a:ext cx="2606040" cy="2011680"/>
          </a:xfrm>
          <a:prstGeom prst="roundRect">
            <a:avLst>
              <a:gd name="adj" fmla="val 5455"/>
            </a:avLst>
          </a:prstGeom>
          <a:solidFill>
            <a:schemeClr val="bg1">
              <a:alpha val="10000"/>
            </a:schemeClr>
          </a:solidFill>
          <a:ln w="9525">
            <a:solidFill>
              <a:schemeClr val="bg1">
                <a:alpha val="30000"/>
              </a:schemeClr>
            </a:solidFill>
            <a:prstDash val="solid"/>
          </a:ln>
        </p:spPr>
      </p:sp>
      <p:pic>
        <p:nvPicPr>
          <p:cNvPr id="4" name="Achieved icon" descr="Achieved icon"/>
          <p:cNvPicPr>
            <a:picLocks noChangeAspect="1"/>
          </p:cNvPicPr>
          <p:nvPr/>
        </p:nvPicPr>
        <p:blipFill>
          <a:blip r:embed="rId3"/>
          <a:stretch>
            <a:fillRect/>
          </a:stretch>
        </p:blipFill>
        <p:spPr>
          <a:xfrm>
            <a:off x="685800" y="1353312"/>
            <a:ext cx="347472" cy="347472"/>
          </a:xfrm>
          <a:prstGeom prst="rect">
            <a:avLst/>
          </a:prstGeom>
        </p:spPr>
      </p:pic>
      <p:sp>
        <p:nvSpPr>
          <p:cNvPr id="5" name="Achieved heading"/>
          <p:cNvSpPr txBox="1"/>
          <p:nvPr/>
        </p:nvSpPr>
        <p:spPr>
          <a:xfrm>
            <a:off x="1143000" y="1325880"/>
            <a:ext cx="1737360" cy="411480"/>
          </a:xfrm>
          <a:prstGeom prst="rect">
            <a:avLst/>
          </a:prstGeom>
          <a:noFill/>
          <a:ln/>
        </p:spPr>
        <p:txBody>
          <a:bodyPr wrap="square" lIns="0" tIns="0" rIns="0" bIns="0" rtlCol="0" anchor="ctr"/>
          <a:lstStyle/>
          <a:p>
            <a:pPr marL="0" indent="0">
              <a:buNone/>
            </a:pPr>
            <a:r>
              <a:rPr lang="en-US" sz="2000" b="1" dirty="0">
                <a:solidFill>
                  <a:schemeClr val="accent2"/>
                </a:solidFill>
              </a:rPr>
              <a:t>Achieved</a:t>
            </a:r>
            <a:endParaRPr lang="en-US" sz="2000" dirty="0"/>
          </a:p>
        </p:txBody>
      </p:sp>
      <p:sp>
        <p:nvSpPr>
          <p:cNvPr id="6" name="Achieved list"/>
          <p:cNvSpPr txBox="1"/>
          <p:nvPr/>
        </p:nvSpPr>
        <p:spPr>
          <a:xfrm>
            <a:off x="685800" y="1874520"/>
            <a:ext cx="2194560" cy="12344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3 algorithms</a:t>
            </a:r>
            <a:endParaRPr lang="en-US" sz="1400" dirty="0"/>
          </a:p>
          <a:p>
            <a:pPr marL="342900" indent="-342900">
              <a:spcAft>
                <a:spcPts val="300"/>
              </a:spcAft>
              <a:buSzPct val="100000"/>
              <a:buChar char="•"/>
            </a:pPr>
            <a:r>
              <a:rPr lang="en-US" sz="1400" dirty="0">
                <a:solidFill>
                  <a:schemeClr val="bg1"/>
                </a:solidFill>
              </a:rPr>
              <a:t>Live step-by-step replay</a:t>
            </a:r>
            <a:endParaRPr lang="en-US" sz="1400" dirty="0"/>
          </a:p>
          <a:p>
            <a:pPr marL="342900" indent="-342900">
              <a:spcAft>
                <a:spcPts val="300"/>
              </a:spcAft>
              <a:buSzPct val="100000"/>
              <a:buChar char="•"/>
            </a:pPr>
            <a:r>
              <a:rPr lang="en-US" sz="1400" dirty="0">
                <a:solidFill>
                  <a:schemeClr val="bg1"/>
                </a:solidFill>
              </a:rPr>
              <a:t>Fair comparison</a:t>
            </a:r>
            <a:endParaRPr lang="en-US" sz="1400" dirty="0"/>
          </a:p>
          <a:p>
            <a:pPr marL="342900" indent="-342900">
              <a:spcAft>
                <a:spcPts val="300"/>
              </a:spcAft>
              <a:buSzPct val="100000"/>
              <a:buChar char="•"/>
            </a:pPr>
            <a:r>
              <a:rPr lang="en-US" sz="1400" dirty="0">
                <a:solidFill>
                  <a:schemeClr val="bg1"/>
                </a:solidFill>
              </a:rPr>
              <a:t>9 automated tests</a:t>
            </a:r>
            <a:endParaRPr lang="en-US" sz="1400" dirty="0"/>
          </a:p>
        </p:txBody>
      </p:sp>
      <p:sp>
        <p:nvSpPr>
          <p:cNvPr id="7" name="Next card"/>
          <p:cNvSpPr/>
          <p:nvPr/>
        </p:nvSpPr>
        <p:spPr>
          <a:xfrm>
            <a:off x="3268980" y="1188720"/>
            <a:ext cx="2606040" cy="2011680"/>
          </a:xfrm>
          <a:prstGeom prst="roundRect">
            <a:avLst>
              <a:gd name="adj" fmla="val 5455"/>
            </a:avLst>
          </a:prstGeom>
          <a:solidFill>
            <a:schemeClr val="bg1">
              <a:alpha val="10000"/>
            </a:schemeClr>
          </a:solidFill>
          <a:ln w="9525">
            <a:solidFill>
              <a:schemeClr val="bg1">
                <a:alpha val="30000"/>
              </a:schemeClr>
            </a:solidFill>
            <a:prstDash val="solid"/>
          </a:ln>
        </p:spPr>
      </p:sp>
      <p:pic>
        <p:nvPicPr>
          <p:cNvPr id="8" name="Next icon" descr="Next icon"/>
          <p:cNvPicPr>
            <a:picLocks noChangeAspect="1"/>
          </p:cNvPicPr>
          <p:nvPr/>
        </p:nvPicPr>
        <p:blipFill>
          <a:blip r:embed="rId4"/>
          <a:stretch>
            <a:fillRect/>
          </a:stretch>
        </p:blipFill>
        <p:spPr>
          <a:xfrm>
            <a:off x="3497580" y="1353312"/>
            <a:ext cx="347472" cy="347472"/>
          </a:xfrm>
          <a:prstGeom prst="rect">
            <a:avLst/>
          </a:prstGeom>
        </p:spPr>
      </p:pic>
      <p:sp>
        <p:nvSpPr>
          <p:cNvPr id="9" name="Next heading"/>
          <p:cNvSpPr txBox="1"/>
          <p:nvPr/>
        </p:nvSpPr>
        <p:spPr>
          <a:xfrm>
            <a:off x="3954780" y="1325880"/>
            <a:ext cx="1737360" cy="411480"/>
          </a:xfrm>
          <a:prstGeom prst="rect">
            <a:avLst/>
          </a:prstGeom>
          <a:noFill/>
          <a:ln/>
        </p:spPr>
        <p:txBody>
          <a:bodyPr wrap="square" lIns="0" tIns="0" rIns="0" bIns="0" rtlCol="0" anchor="ctr"/>
          <a:lstStyle/>
          <a:p>
            <a:pPr marL="0" indent="0">
              <a:buNone/>
            </a:pPr>
            <a:r>
              <a:rPr lang="en-US" sz="2000" b="1" dirty="0">
                <a:solidFill>
                  <a:schemeClr val="accent2"/>
                </a:solidFill>
              </a:rPr>
              <a:t>Next</a:t>
            </a:r>
            <a:endParaRPr lang="en-US" sz="2000" dirty="0"/>
          </a:p>
        </p:txBody>
      </p:sp>
      <p:sp>
        <p:nvSpPr>
          <p:cNvPr id="10" name="Next list"/>
          <p:cNvSpPr txBox="1"/>
          <p:nvPr/>
        </p:nvSpPr>
        <p:spPr>
          <a:xfrm>
            <a:off x="3497580" y="1874520"/>
            <a:ext cx="2194560" cy="12344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A* and Dijkstra</a:t>
            </a:r>
            <a:endParaRPr lang="en-US" sz="1400" dirty="0"/>
          </a:p>
          <a:p>
            <a:pPr marL="342900" indent="-342900">
              <a:spcAft>
                <a:spcPts val="300"/>
              </a:spcAft>
              <a:buSzPct val="100000"/>
              <a:buChar char="•"/>
            </a:pPr>
            <a:r>
              <a:rPr lang="en-US" sz="1400" dirty="0">
                <a:solidFill>
                  <a:schemeClr val="bg1"/>
                </a:solidFill>
              </a:rPr>
              <a:t>Weighted mazes</a:t>
            </a:r>
            <a:endParaRPr lang="en-US" sz="1400" dirty="0"/>
          </a:p>
          <a:p>
            <a:pPr marL="342900" indent="-342900">
              <a:spcAft>
                <a:spcPts val="300"/>
              </a:spcAft>
              <a:buSzPct val="100000"/>
              <a:buChar char="•"/>
            </a:pPr>
            <a:r>
              <a:rPr lang="en-US" sz="1400" dirty="0">
                <a:solidFill>
                  <a:schemeClr val="bg1"/>
                </a:solidFill>
              </a:rPr>
              <a:t>Click-to-draw editor</a:t>
            </a:r>
            <a:endParaRPr lang="en-US" sz="1400" dirty="0"/>
          </a:p>
          <a:p>
            <a:pPr marL="342900" indent="-342900">
              <a:spcAft>
                <a:spcPts val="300"/>
              </a:spcAft>
              <a:buSzPct val="100000"/>
              <a:buChar char="•"/>
            </a:pPr>
            <a:r>
              <a:rPr lang="en-US" sz="1400" dirty="0">
                <a:solidFill>
                  <a:schemeClr val="bg1"/>
                </a:solidFill>
              </a:rPr>
              <a:t>Quiz mode</a:t>
            </a:r>
            <a:endParaRPr lang="en-US" sz="1400" dirty="0"/>
          </a:p>
        </p:txBody>
      </p:sp>
      <p:sp>
        <p:nvSpPr>
          <p:cNvPr id="11" name="Scalability card"/>
          <p:cNvSpPr/>
          <p:nvPr/>
        </p:nvSpPr>
        <p:spPr>
          <a:xfrm>
            <a:off x="6080760" y="1188720"/>
            <a:ext cx="2606040" cy="2011680"/>
          </a:xfrm>
          <a:prstGeom prst="roundRect">
            <a:avLst>
              <a:gd name="adj" fmla="val 5455"/>
            </a:avLst>
          </a:prstGeom>
          <a:solidFill>
            <a:schemeClr val="bg1">
              <a:alpha val="10000"/>
            </a:schemeClr>
          </a:solidFill>
          <a:ln w="9525">
            <a:solidFill>
              <a:schemeClr val="bg1">
                <a:alpha val="30000"/>
              </a:schemeClr>
            </a:solidFill>
            <a:prstDash val="solid"/>
          </a:ln>
        </p:spPr>
      </p:sp>
      <p:pic>
        <p:nvPicPr>
          <p:cNvPr id="12" name="Scalability icon" descr="Scalability icon"/>
          <p:cNvPicPr>
            <a:picLocks noChangeAspect="1"/>
          </p:cNvPicPr>
          <p:nvPr/>
        </p:nvPicPr>
        <p:blipFill>
          <a:blip r:embed="rId5"/>
          <a:stretch>
            <a:fillRect/>
          </a:stretch>
        </p:blipFill>
        <p:spPr>
          <a:xfrm>
            <a:off x="6309360" y="1353312"/>
            <a:ext cx="347472" cy="347472"/>
          </a:xfrm>
          <a:prstGeom prst="rect">
            <a:avLst/>
          </a:prstGeom>
        </p:spPr>
      </p:pic>
      <p:sp>
        <p:nvSpPr>
          <p:cNvPr id="13" name="Scalability heading"/>
          <p:cNvSpPr txBox="1"/>
          <p:nvPr/>
        </p:nvSpPr>
        <p:spPr>
          <a:xfrm>
            <a:off x="6766560" y="1325880"/>
            <a:ext cx="1737360" cy="411480"/>
          </a:xfrm>
          <a:prstGeom prst="rect">
            <a:avLst/>
          </a:prstGeom>
          <a:noFill/>
          <a:ln/>
        </p:spPr>
        <p:txBody>
          <a:bodyPr wrap="square" lIns="0" tIns="0" rIns="0" bIns="0" rtlCol="0" anchor="ctr"/>
          <a:lstStyle/>
          <a:p>
            <a:pPr marL="0" indent="0">
              <a:buNone/>
            </a:pPr>
            <a:r>
              <a:rPr lang="en-US" sz="2000" b="1" dirty="0">
                <a:solidFill>
                  <a:schemeClr val="accent2"/>
                </a:solidFill>
              </a:rPr>
              <a:t>Scalability</a:t>
            </a:r>
            <a:endParaRPr lang="en-US" sz="2000" dirty="0"/>
          </a:p>
        </p:txBody>
      </p:sp>
      <p:sp>
        <p:nvSpPr>
          <p:cNvPr id="14" name="Scalability list"/>
          <p:cNvSpPr txBox="1"/>
          <p:nvPr/>
        </p:nvSpPr>
        <p:spPr>
          <a:xfrm>
            <a:off x="6309360" y="1874520"/>
            <a:ext cx="2194560" cy="12344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Explicit-stack backtracking</a:t>
            </a:r>
            <a:endParaRPr lang="en-US" sz="1400" dirty="0"/>
          </a:p>
          <a:p>
            <a:pPr marL="342900" indent="-342900">
              <a:spcAft>
                <a:spcPts val="300"/>
              </a:spcAft>
              <a:buSzPct val="100000"/>
              <a:buChar char="•"/>
            </a:pPr>
            <a:r>
              <a:rPr lang="en-US" sz="1400" dirty="0">
                <a:solidFill>
                  <a:schemeClr val="bg1"/>
                </a:solidFill>
              </a:rPr>
              <a:t>Benchmark many mazes</a:t>
            </a:r>
            <a:endParaRPr lang="en-US" sz="1400" dirty="0"/>
          </a:p>
        </p:txBody>
      </p:sp>
      <p:sp>
        <p:nvSpPr>
          <p:cNvPr id="15" name="Takeaway"/>
          <p:cNvSpPr txBox="1"/>
          <p:nvPr/>
        </p:nvSpPr>
        <p:spPr>
          <a:xfrm>
            <a:off x="457200" y="3383280"/>
            <a:ext cx="8229600" cy="685800"/>
          </a:xfrm>
          <a:prstGeom prst="rect">
            <a:avLst/>
          </a:prstGeom>
          <a:noFill/>
          <a:ln/>
        </p:spPr>
        <p:txBody>
          <a:bodyPr wrap="square" lIns="0" tIns="0" rIns="0" bIns="0" rtlCol="0" anchor="ctr"/>
          <a:lstStyle/>
          <a:p>
            <a:pPr marL="0" indent="0">
              <a:buNone/>
            </a:pPr>
            <a:endParaRPr lang="en-US" sz="2400" dirty="0"/>
          </a:p>
        </p:txBody>
      </p:sp>
      <p:sp>
        <p:nvSpPr>
          <p:cNvPr id="16" name="Thank you"/>
          <p:cNvSpPr txBox="1"/>
          <p:nvPr/>
        </p:nvSpPr>
        <p:spPr>
          <a:xfrm>
            <a:off x="457200" y="4114800"/>
            <a:ext cx="8229600" cy="457200"/>
          </a:xfrm>
          <a:prstGeom prst="rect">
            <a:avLst/>
          </a:prstGeom>
          <a:noFill/>
          <a:ln/>
        </p:spPr>
        <p:txBody>
          <a:bodyPr wrap="square" lIns="0" tIns="0" rIns="0" bIns="0" rtlCol="0" anchor="ctr"/>
          <a:lstStyle/>
          <a:p>
            <a:pPr marL="0" indent="0">
              <a:buNone/>
            </a:pPr>
            <a:r>
              <a:rPr lang="en-US" sz="2800" b="1" dirty="0">
                <a:solidFill>
                  <a:schemeClr val="accent2"/>
                </a:solidFill>
              </a:rPr>
              <a:t>                                           Thank You </a:t>
            </a:r>
            <a:endParaRPr lang="en-US" sz="2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5B4FC"/>
                </a:solidFill>
              </a:defRPr>
            </a:lvl1pPr>
          </a:lstStyle>
          <a:p>
            <a:pPr algn="l"/>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Maze Solver">
  <a:themeElements>
    <a:clrScheme name="Maze Solver">
      <a:dk1>
        <a:srgbClr val="0F172A"/>
      </a:dk1>
      <a:lt1>
        <a:srgbClr val="FFFFFF"/>
      </a:lt1>
      <a:dk2>
        <a:srgbClr val="1E1B4B"/>
      </a:dk2>
      <a:lt2>
        <a:srgbClr val="EEF2FF"/>
      </a:lt2>
      <a:accent1>
        <a:srgbClr val="7C3AED"/>
      </a:accent1>
      <a:accent2>
        <a:srgbClr val="FACC15"/>
      </a:accent2>
      <a:accent3>
        <a:srgbClr val="22C55E"/>
      </a:accent3>
      <a:accent4>
        <a:srgbClr val="EF4444"/>
      </a:accent4>
      <a:accent5>
        <a:srgbClr val="2563EB"/>
      </a:accent5>
      <a:accent6>
        <a:srgbClr val="14B8A6"/>
      </a:accent6>
      <a:hlink>
        <a:srgbClr val="2563EB"/>
      </a:hlink>
      <a:folHlink>
        <a:srgbClr val="7C3AED"/>
      </a:folHlink>
    </a:clrScheme>
    <a:fontScheme name="Maze Solv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715</Words>
  <Application>Microsoft Office PowerPoint</Application>
  <PresentationFormat>On-screen Show (16:9)</PresentationFormat>
  <Paragraphs>127</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Maze Solver</vt:lpstr>
      <vt:lpstr>Maze Solver Game</vt:lpstr>
      <vt:lpstr>The Challenge</vt:lpstr>
      <vt:lpstr>Our Innovation</vt:lpstr>
      <vt:lpstr>How It Works</vt:lpstr>
      <vt:lpstr>Technology &amp; Algorithms</vt:lpstr>
      <vt:lpstr>Demo &amp; Impact</vt:lpstr>
      <vt:lpstr>Future Vision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Maze Solver Game - Comparing BFS, DFS and Backtracking</dc:title>
  <dc:subject>PptxGenJS Presentation</dc:subject>
  <dc:creator>PptxGenJS</dc:creator>
  <cp:lastModifiedBy>poorna chary</cp:lastModifiedBy>
  <cp:revision>2</cp:revision>
  <dcterms:created xsi:type="dcterms:W3CDTF">2026-10-03T05:41:30Z</dcterms:created>
  <dcterms:modified xsi:type="dcterms:W3CDTF">2026-10-03T06:21:47Z</dcterms:modified>
</cp:coreProperties>
</file>